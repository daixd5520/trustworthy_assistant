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6.xml" ContentType="application/vnd.openxmlformats-officedocument.presentationml.notesSlide+xml"/>
  <Override PartName="/ppt/tags/tag23.xml" ContentType="application/vnd.openxmlformats-officedocument.presentationml.tags+xml"/>
  <Override PartName="/ppt/notesSlides/notesSlide7.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8.xml" ContentType="application/vnd.openxmlformats-officedocument.presentationml.notesSlide+xml"/>
  <Override PartName="/ppt/tags/tag26.xml" ContentType="application/vnd.openxmlformats-officedocument.presentationml.tags+xml"/>
  <Override PartName="/ppt/notesSlides/notesSlide9.xml" ContentType="application/vnd.openxmlformats-officedocument.presentationml.notesSlide+xml"/>
  <Override PartName="/ppt/tags/tag2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0.xml" ContentType="application/vnd.openxmlformats-officedocument.presentationml.tags+xml"/>
  <Override PartName="/ppt/notesSlides/notesSlide15.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18"/>
  </p:notesMasterIdLst>
  <p:handoutMasterIdLst>
    <p:handoutMasterId r:id="rId19"/>
  </p:handoutMasterIdLst>
  <p:sldIdLst>
    <p:sldId id="281" r:id="rId2"/>
    <p:sldId id="273" r:id="rId3"/>
    <p:sldId id="330" r:id="rId4"/>
    <p:sldId id="298" r:id="rId5"/>
    <p:sldId id="353" r:id="rId6"/>
    <p:sldId id="333" r:id="rId7"/>
    <p:sldId id="334" r:id="rId8"/>
    <p:sldId id="336" r:id="rId9"/>
    <p:sldId id="352" r:id="rId10"/>
    <p:sldId id="337" r:id="rId11"/>
    <p:sldId id="356" r:id="rId12"/>
    <p:sldId id="354" r:id="rId13"/>
    <p:sldId id="340" r:id="rId14"/>
    <p:sldId id="355" r:id="rId15"/>
    <p:sldId id="341" r:id="rId16"/>
    <p:sldId id="294" r:id="rId17"/>
  </p:sldIdLst>
  <p:sldSz cx="12192000" cy="6858000"/>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幼圆" pitchFamily="49"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幼圆" pitchFamily="49"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幼圆" pitchFamily="49"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幼圆" pitchFamily="49"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幼圆" pitchFamily="49" charset="-122"/>
        <a:cs typeface="+mn-cs"/>
      </a:defRPr>
    </a:lvl5pPr>
    <a:lvl6pPr marL="2286000" algn="l" defTabSz="914400" rtl="0" eaLnBrk="1" latinLnBrk="0" hangingPunct="1">
      <a:defRPr sz="2400" kern="1200">
        <a:solidFill>
          <a:schemeClr val="tx1"/>
        </a:solidFill>
        <a:latin typeface="Arial" panose="020B0604020202020204" pitchFamily="34" charset="0"/>
        <a:ea typeface="幼圆" pitchFamily="49" charset="-122"/>
        <a:cs typeface="+mn-cs"/>
      </a:defRPr>
    </a:lvl6pPr>
    <a:lvl7pPr marL="2743200" algn="l" defTabSz="914400" rtl="0" eaLnBrk="1" latinLnBrk="0" hangingPunct="1">
      <a:defRPr sz="2400" kern="1200">
        <a:solidFill>
          <a:schemeClr val="tx1"/>
        </a:solidFill>
        <a:latin typeface="Arial" panose="020B0604020202020204" pitchFamily="34" charset="0"/>
        <a:ea typeface="幼圆" pitchFamily="49" charset="-122"/>
        <a:cs typeface="+mn-cs"/>
      </a:defRPr>
    </a:lvl7pPr>
    <a:lvl8pPr marL="3200400" algn="l" defTabSz="914400" rtl="0" eaLnBrk="1" latinLnBrk="0" hangingPunct="1">
      <a:defRPr sz="2400" kern="1200">
        <a:solidFill>
          <a:schemeClr val="tx1"/>
        </a:solidFill>
        <a:latin typeface="Arial" panose="020B0604020202020204" pitchFamily="34" charset="0"/>
        <a:ea typeface="幼圆" pitchFamily="49" charset="-122"/>
        <a:cs typeface="+mn-cs"/>
      </a:defRPr>
    </a:lvl8pPr>
    <a:lvl9pPr marL="3657600" algn="l" defTabSz="914400" rtl="0" eaLnBrk="1" latinLnBrk="0" hangingPunct="1">
      <a:defRPr sz="2400" kern="1200">
        <a:solidFill>
          <a:schemeClr val="tx1"/>
        </a:solidFill>
        <a:latin typeface="Arial" panose="020B0604020202020204" pitchFamily="34" charset="0"/>
        <a:ea typeface="幼圆" pitchFamily="49" charset="-122"/>
        <a:cs typeface="+mn-cs"/>
      </a:defRPr>
    </a:lvl9pPr>
  </p:defaultTextStyle>
  <p:extLst>
    <p:ext uri="{EFAFB233-063F-42B5-8137-9DF3F51BA10A}">
      <p15:sldGuideLst xmlns:p15="http://schemas.microsoft.com/office/powerpoint/2012/main">
        <p15:guide id="1" orient="horz" pos="2113">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8CC1"/>
    <a:srgbClr val="000000"/>
    <a:srgbClr val="286991"/>
    <a:srgbClr val="FFFFFF"/>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80566" autoAdjust="0"/>
  </p:normalViewPr>
  <p:slideViewPr>
    <p:cSldViewPr snapToGrid="0">
      <p:cViewPr varScale="1">
        <p:scale>
          <a:sx n="127" d="100"/>
          <a:sy n="127" d="100"/>
        </p:scale>
        <p:origin x="1344" y="120"/>
      </p:cViewPr>
      <p:guideLst>
        <p:guide orient="horz" pos="2113"/>
        <p:guide pos="3839"/>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28DE97-E701-EE4C-9B96-A6917F432E0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486C4F9-D5AF-B242-816A-60C6DE053D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8C1716-0E6E-42BD-B120-7CDAD4BF2990}" type="datetime1">
              <a:rPr kumimoji="1" lang="zh-CN" altLang="en-US" smtClean="0"/>
              <a:t>2025/7/30/Wed</a:t>
            </a:fld>
            <a:endParaRPr kumimoji="1" lang="zh-CN" altLang="en-US"/>
          </a:p>
        </p:txBody>
      </p:sp>
      <p:sp>
        <p:nvSpPr>
          <p:cNvPr id="4" name="页脚占位符 3">
            <a:extLst>
              <a:ext uri="{FF2B5EF4-FFF2-40B4-BE49-F238E27FC236}">
                <a16:creationId xmlns:a16="http://schemas.microsoft.com/office/drawing/2014/main" id="{F63DA06E-65FA-9949-8349-BA83BD88BD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D8D1040B-AA97-1746-9C91-F8AA1C42B6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A45BB4-556D-E545-A9FE-172B21A1BD64}" type="slidenum">
              <a:rPr kumimoji="1" lang="zh-CN" altLang="en-US" smtClean="0"/>
              <a:t>‹#›</a:t>
            </a:fld>
            <a:endParaRPr kumimoji="1" lang="zh-CN" altLang="en-US"/>
          </a:p>
        </p:txBody>
      </p:sp>
    </p:spTree>
    <p:extLst>
      <p:ext uri="{BB962C8B-B14F-4D97-AF65-F5344CB8AC3E}">
        <p14:creationId xmlns:p14="http://schemas.microsoft.com/office/powerpoint/2010/main" val="2053028323"/>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spcBef>
                <a:spcPts val="0"/>
              </a:spcBef>
              <a:spcAft>
                <a:spcPts val="0"/>
              </a:spcAft>
              <a:defRPr sz="1200">
                <a:latin typeface="+mn-lt"/>
                <a:ea typeface="+mn-ea"/>
              </a:defRPr>
            </a:lvl1pPr>
          </a:lstStyle>
          <a:p>
            <a:pPr>
              <a:defRPr/>
            </a:pPr>
            <a:fld id="{B2C0523D-71EE-4ECE-B037-A18FB4E20D8C}" type="datetime1">
              <a:rPr lang="zh-CN" altLang="en-US" smtClean="0"/>
              <a:t>2025/7/30/Wed</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spcBef>
                <a:spcPts val="0"/>
              </a:spcBef>
              <a:spcAft>
                <a:spcPts val="0"/>
              </a:spcAft>
              <a:defRPr sz="1200">
                <a:latin typeface="+mn-lt"/>
                <a:ea typeface="+mn-ea"/>
              </a:defRPr>
            </a:lvl1pPr>
          </a:lstStyle>
          <a:p>
            <a:pPr>
              <a:defRPr/>
            </a:pPr>
            <a:fld id="{BD9E290E-B897-4C81-8DB9-5E218080C6B9}" type="slidenum">
              <a:rPr lang="zh-CN" altLang="en-US"/>
              <a:t>‹#›</a:t>
            </a:fld>
            <a:endParaRPr lang="zh-CN" altLang="en-US"/>
          </a:p>
        </p:txBody>
      </p:sp>
    </p:spTree>
    <p:extLst>
      <p:ext uri="{BB962C8B-B14F-4D97-AF65-F5344CB8AC3E}">
        <p14:creationId xmlns:p14="http://schemas.microsoft.com/office/powerpoint/2010/main" val="2267715008"/>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2C5DE18-6DA3-E34B-A4EB-9973A0E9E0C4}"/>
              </a:ext>
            </a:extLst>
          </p:cNvPr>
          <p:cNvSpPr>
            <a:spLocks noGrp="1"/>
          </p:cNvSpPr>
          <p:nvPr>
            <p:ph type="sldNum" sz="quarter" idx="5"/>
          </p:nvPr>
        </p:nvSpPr>
        <p:spPr/>
        <p:txBody>
          <a:bodyPr/>
          <a:lstStyle/>
          <a:p>
            <a:pPr>
              <a:defRPr/>
            </a:pPr>
            <a:fld id="{BD9E290E-B897-4C81-8DB9-5E218080C6B9}" type="slidenum">
              <a:rPr lang="zh-CN" altLang="en-US" smtClean="0"/>
              <a:t>0</a:t>
            </a:fld>
            <a:endParaRPr lang="zh-CN" altLang="en-US"/>
          </a:p>
        </p:txBody>
      </p:sp>
      <p:sp>
        <p:nvSpPr>
          <p:cNvPr id="5" name="日期占位符 4">
            <a:extLst>
              <a:ext uri="{FF2B5EF4-FFF2-40B4-BE49-F238E27FC236}">
                <a16:creationId xmlns:a16="http://schemas.microsoft.com/office/drawing/2014/main" id="{CFA9AB25-CAD8-BB4A-B2FD-5ADCBAD5F283}"/>
              </a:ext>
            </a:extLst>
          </p:cNvPr>
          <p:cNvSpPr>
            <a:spLocks noGrp="1"/>
          </p:cNvSpPr>
          <p:nvPr>
            <p:ph type="dt" idx="1"/>
          </p:nvPr>
        </p:nvSpPr>
        <p:spPr/>
        <p:txBody>
          <a:bodyPr/>
          <a:lstStyle/>
          <a:p>
            <a:pPr>
              <a:defRPr/>
            </a:pPr>
            <a:fld id="{53D2D2A1-AB1A-4565-85AA-9A96708C49CA}"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1636C4DF-4B42-ED4D-B2FC-14476CECC628}"/>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2228708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今天的汇报将围绕四个主要部分展开：</a:t>
            </a:r>
            <a:endParaRPr lang="en-US" altLang="zh-CN" dirty="0"/>
          </a:p>
          <a:p>
            <a:r>
              <a:rPr lang="zh-CN" altLang="en-US" dirty="0"/>
              <a:t>首先，我将阐述本研究的背景与意义；</a:t>
            </a:r>
            <a:endParaRPr lang="en-US" altLang="zh-CN" dirty="0"/>
          </a:p>
          <a:p>
            <a:r>
              <a:rPr lang="zh-CN" altLang="en-US" dirty="0"/>
              <a:t>其次，将分析当前领域的研究现状及面临的挑战；</a:t>
            </a:r>
            <a:endParaRPr lang="en-US" altLang="zh-CN" dirty="0"/>
          </a:p>
          <a:p>
            <a:r>
              <a:rPr lang="zh-CN" altLang="en-US" dirty="0"/>
              <a:t>接着，我会回顾几项与本课题紧密相关的现有工作；</a:t>
            </a:r>
            <a:endParaRPr lang="en-US" altLang="zh-CN" dirty="0"/>
          </a:p>
          <a:p>
            <a:r>
              <a:rPr lang="zh-CN" altLang="en-US" dirty="0"/>
              <a:t>最后，我将详细介绍我提出的研究方法和未来的研究计划。</a:t>
            </a:r>
            <a:endParaRPr lang="en-US" altLang="zh-CN" dirty="0"/>
          </a:p>
          <a:p>
            <a:r>
              <a:rPr lang="zh-CN" altLang="en-US" dirty="0"/>
              <a:t>希望我的汇报能为大家带来一些启发，也期待各位的宝贵意见。</a:t>
            </a:r>
          </a:p>
        </p:txBody>
      </p:sp>
      <p:sp>
        <p:nvSpPr>
          <p:cNvPr id="4" name="灯片编号占位符 3">
            <a:extLst>
              <a:ext uri="{FF2B5EF4-FFF2-40B4-BE49-F238E27FC236}">
                <a16:creationId xmlns:a16="http://schemas.microsoft.com/office/drawing/2014/main" id="{F3D1FCE9-143D-F940-871B-58948F61CDB6}"/>
              </a:ext>
            </a:extLst>
          </p:cNvPr>
          <p:cNvSpPr>
            <a:spLocks noGrp="1"/>
          </p:cNvSpPr>
          <p:nvPr>
            <p:ph type="sldNum" sz="quarter" idx="5"/>
          </p:nvPr>
        </p:nvSpPr>
        <p:spPr/>
        <p:txBody>
          <a:bodyPr/>
          <a:lstStyle/>
          <a:p>
            <a:pPr>
              <a:defRPr/>
            </a:pPr>
            <a:fld id="{BD9E290E-B897-4C81-8DB9-5E218080C6B9}" type="slidenum">
              <a:rPr lang="zh-CN" altLang="en-US" smtClean="0"/>
              <a:t>1</a:t>
            </a:fld>
            <a:endParaRPr lang="zh-CN" altLang="en-US"/>
          </a:p>
        </p:txBody>
      </p:sp>
      <p:sp>
        <p:nvSpPr>
          <p:cNvPr id="5" name="日期占位符 4">
            <a:extLst>
              <a:ext uri="{FF2B5EF4-FFF2-40B4-BE49-F238E27FC236}">
                <a16:creationId xmlns:a16="http://schemas.microsoft.com/office/drawing/2014/main" id="{E1DB93B5-EBE6-D843-B35D-A2A916C3E1E6}"/>
              </a:ext>
            </a:extLst>
          </p:cNvPr>
          <p:cNvSpPr>
            <a:spLocks noGrp="1"/>
          </p:cNvSpPr>
          <p:nvPr>
            <p:ph type="dt" idx="1"/>
          </p:nvPr>
        </p:nvSpPr>
        <p:spPr/>
        <p:txBody>
          <a:bodyPr/>
          <a:lstStyle/>
          <a:p>
            <a:pPr>
              <a:defRPr/>
            </a:pPr>
            <a:fld id="{AE5B82B5-A120-4D4A-86B1-92BAF6D1F2D2}"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2B1395D5-0D64-BF47-AD9E-9A4DD881F0D3}"/>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2455389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那么，让我们首先深入探讨一下本研究的背景部分。</a:t>
            </a:r>
          </a:p>
        </p:txBody>
      </p:sp>
      <p:sp>
        <p:nvSpPr>
          <p:cNvPr id="4" name="灯片编号占位符 3">
            <a:extLst>
              <a:ext uri="{FF2B5EF4-FFF2-40B4-BE49-F238E27FC236}">
                <a16:creationId xmlns:a16="http://schemas.microsoft.com/office/drawing/2014/main" id="{1F30F22B-58D3-DE40-982D-ED943284AE27}"/>
              </a:ext>
            </a:extLst>
          </p:cNvPr>
          <p:cNvSpPr>
            <a:spLocks noGrp="1"/>
          </p:cNvSpPr>
          <p:nvPr>
            <p:ph type="sldNum" sz="quarter" idx="5"/>
          </p:nvPr>
        </p:nvSpPr>
        <p:spPr/>
        <p:txBody>
          <a:bodyPr/>
          <a:lstStyle/>
          <a:p>
            <a:pPr>
              <a:defRPr/>
            </a:pPr>
            <a:fld id="{BD9E290E-B897-4C81-8DB9-5E218080C6B9}" type="slidenum">
              <a:rPr lang="zh-CN" altLang="en-US" smtClean="0"/>
              <a:t>2</a:t>
            </a:fld>
            <a:endParaRPr lang="zh-CN" altLang="en-US"/>
          </a:p>
        </p:txBody>
      </p:sp>
      <p:sp>
        <p:nvSpPr>
          <p:cNvPr id="5" name="日期占位符 4">
            <a:extLst>
              <a:ext uri="{FF2B5EF4-FFF2-40B4-BE49-F238E27FC236}">
                <a16:creationId xmlns:a16="http://schemas.microsoft.com/office/drawing/2014/main" id="{F40271E9-BD48-B949-B624-39E377889660}"/>
              </a:ext>
            </a:extLst>
          </p:cNvPr>
          <p:cNvSpPr>
            <a:spLocks noGrp="1"/>
          </p:cNvSpPr>
          <p:nvPr>
            <p:ph type="dt" idx="1"/>
          </p:nvPr>
        </p:nvSpPr>
        <p:spPr/>
        <p:txBody>
          <a:bodyPr/>
          <a:lstStyle/>
          <a:p>
            <a:pPr>
              <a:defRPr/>
            </a:pPr>
            <a:fld id="{A17E397E-7B62-4203-9934-86F2A997F11E}"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4E92859C-4DFA-664C-828A-C32C75A2D44D}"/>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3483171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近年来，大语言模型（</a:t>
            </a:r>
            <a:r>
              <a:rPr lang="en-US" altLang="zh-CN" dirty="0"/>
              <a:t>LLM</a:t>
            </a:r>
            <a:r>
              <a:rPr lang="zh-CN" altLang="en-US" dirty="0"/>
              <a:t>）在自然语言处理（</a:t>
            </a:r>
            <a:r>
              <a:rPr lang="en-US" altLang="zh-CN" dirty="0"/>
              <a:t>NLP</a:t>
            </a:r>
            <a:r>
              <a:rPr lang="zh-CN" altLang="en-US" dirty="0"/>
              <a:t>）领域取得了革命性的突破 。它们在文本生成、智能问答、情感分析等众多任务中展现出前所未有的能力，深刻改变了人机交互的方式和信息处理的范式。而监督微调（</a:t>
            </a:r>
            <a:r>
              <a:rPr lang="en-US" altLang="zh-CN" dirty="0"/>
              <a:t>SFT</a:t>
            </a:r>
            <a:r>
              <a:rPr lang="zh-CN" altLang="en-US" dirty="0"/>
              <a:t>）作为</a:t>
            </a:r>
            <a:r>
              <a:rPr lang="en-US" altLang="zh-CN" dirty="0"/>
              <a:t>LLM</a:t>
            </a:r>
            <a:r>
              <a:rPr lang="zh-CN" altLang="en-US" dirty="0"/>
              <a:t>训练过程中的一个关键环节，其核心目标是使</a:t>
            </a:r>
            <a:r>
              <a:rPr lang="en-US" altLang="zh-CN" dirty="0"/>
              <a:t>LLM</a:t>
            </a:r>
            <a:r>
              <a:rPr lang="zh-CN" altLang="en-US" dirty="0"/>
              <a:t>能够精确理解并遵循人类指令，同时与人类的偏好和价值观对齐，从而提升模型的实用性和安全性 。然而，当前</a:t>
            </a:r>
            <a:r>
              <a:rPr lang="en-US" altLang="zh-CN" dirty="0"/>
              <a:t>SFT</a:t>
            </a:r>
            <a:r>
              <a:rPr lang="zh-CN" altLang="en-US" dirty="0"/>
              <a:t>方法普遍存在一个痛点：它们高度依赖于高质量</a:t>
            </a:r>
            <a:r>
              <a:rPr lang="en-US" altLang="zh-CN" dirty="0"/>
              <a:t>SFT</a:t>
            </a:r>
            <a:r>
              <a:rPr lang="zh-CN" altLang="en-US" dirty="0"/>
              <a:t>样本的选择。这种选择过程往往需要采用复杂的人工启发式数据过滤策略，这意味着巨大的计算资源投入和高昂的人力成本，这不仅限制了这些方法的广泛应用和可扩展性，也未能充分挖掘</a:t>
            </a:r>
            <a:r>
              <a:rPr lang="en-US" altLang="zh-CN" dirty="0"/>
              <a:t>SFT</a:t>
            </a:r>
            <a:r>
              <a:rPr lang="zh-CN" altLang="en-US" dirty="0"/>
              <a:t>数据本身的内在价值和属性 。</a:t>
            </a:r>
            <a:endParaRPr lang="en-US" altLang="zh-CN" dirty="0"/>
          </a:p>
          <a:p>
            <a:endParaRPr lang="en-US" altLang="zh-CN" dirty="0"/>
          </a:p>
          <a:p>
            <a:r>
              <a:rPr lang="zh-CN" altLang="en-US" dirty="0"/>
              <a:t>那么简单介绍一下微调</a:t>
            </a:r>
            <a:r>
              <a:rPr lang="en-US" altLang="zh-CN" dirty="0"/>
              <a:t>…</a:t>
            </a:r>
            <a:r>
              <a:rPr lang="zh-CN" altLang="en-US" dirty="0"/>
              <a:t>简单来说，微调就是在预训练模型的基础上，利用特定任务的数据集进行进一步的训练，使模型能够更好地适应具体任务的需求 。而</a:t>
            </a:r>
            <a:r>
              <a:rPr lang="en-US" altLang="zh-CN" dirty="0"/>
              <a:t>LLM</a:t>
            </a:r>
            <a:r>
              <a:rPr lang="zh-CN" altLang="en-US" dirty="0"/>
              <a:t>微调中的数据优化，则是通过诸如数据筛选、增强、采样等一系列策略，来系统性地提升训练数据的质量和效率，最终目的是显著提升模型的整体性能 。</a:t>
            </a:r>
            <a:endParaRPr lang="en-US" altLang="zh-CN" dirty="0"/>
          </a:p>
          <a:p>
            <a:endParaRPr lang="en-US" altLang="zh-CN" dirty="0"/>
          </a:p>
          <a:p>
            <a:endParaRPr lang="en-US" altLang="zh-CN" dirty="0"/>
          </a:p>
          <a:p>
            <a:r>
              <a:rPr lang="en-US" altLang="zh-CN" dirty="0"/>
              <a:t>"</a:t>
            </a:r>
            <a:r>
              <a:rPr lang="zh-CN" altLang="en-US" dirty="0"/>
              <a:t>人工启发式</a:t>
            </a:r>
            <a:r>
              <a:rPr lang="en-US" altLang="zh-CN" dirty="0"/>
              <a:t>"</a:t>
            </a:r>
            <a:r>
              <a:rPr lang="zh-CN" altLang="en-US" dirty="0"/>
              <a:t>指的是通过人工设计的规则或策略来引导决策过程，通常依赖于人的经验、直觉或专业知识。与自动化算法不同，人工启发式方法通常需要人工介入和判断。在数据筛选或处理过程中，人工启发式可能涉及专家手动选择、标记数据，或者基于特定规则筛选有用的数据样本。</a:t>
            </a:r>
          </a:p>
          <a:p>
            <a:r>
              <a:rPr lang="zh-CN" altLang="en-US" dirty="0"/>
              <a:t>在</a:t>
            </a:r>
            <a:r>
              <a:rPr lang="en-US" altLang="zh-CN" dirty="0"/>
              <a:t>SFT</a:t>
            </a:r>
            <a:r>
              <a:rPr lang="zh-CN" altLang="en-US" dirty="0"/>
              <a:t>（监督微调）方法中，人工启发式策略可能意味着依赖专家或领域知识来手动挑选最能帮助模型学习的训练样本，而不是依赖自动化工具或算法来进行数据过滤。这种方法虽然有效，但通常需要大量的人工工作和时间投入。</a:t>
            </a:r>
          </a:p>
          <a:p>
            <a:endParaRPr lang="en-US" altLang="zh-CN" dirty="0"/>
          </a:p>
          <a:p>
            <a:r>
              <a:rPr lang="zh-CN" altLang="en-US" dirty="0"/>
              <a:t>“数据的效率”指的是在训练过程中，如何有效地利用数据来最大化模型的性能；</a:t>
            </a:r>
          </a:p>
        </p:txBody>
      </p:sp>
      <p:sp>
        <p:nvSpPr>
          <p:cNvPr id="4" name="灯片编号占位符 3">
            <a:extLst>
              <a:ext uri="{FF2B5EF4-FFF2-40B4-BE49-F238E27FC236}">
                <a16:creationId xmlns:a16="http://schemas.microsoft.com/office/drawing/2014/main" id="{9D887A77-6E80-D049-892E-230A89FCB9C5}"/>
              </a:ext>
            </a:extLst>
          </p:cNvPr>
          <p:cNvSpPr>
            <a:spLocks noGrp="1"/>
          </p:cNvSpPr>
          <p:nvPr>
            <p:ph type="sldNum" sz="quarter" idx="5"/>
          </p:nvPr>
        </p:nvSpPr>
        <p:spPr/>
        <p:txBody>
          <a:bodyPr/>
          <a:lstStyle/>
          <a:p>
            <a:pPr>
              <a:defRPr/>
            </a:pPr>
            <a:fld id="{BD9E290E-B897-4C81-8DB9-5E218080C6B9}" type="slidenum">
              <a:rPr lang="zh-CN" altLang="en-US" smtClean="0"/>
              <a:t>3</a:t>
            </a:fld>
            <a:endParaRPr lang="zh-CN" altLang="en-US"/>
          </a:p>
        </p:txBody>
      </p:sp>
      <p:sp>
        <p:nvSpPr>
          <p:cNvPr id="5" name="日期占位符 4">
            <a:extLst>
              <a:ext uri="{FF2B5EF4-FFF2-40B4-BE49-F238E27FC236}">
                <a16:creationId xmlns:a16="http://schemas.microsoft.com/office/drawing/2014/main" id="{6514069F-B0C2-5B47-B62A-AE86F1C780ED}"/>
              </a:ext>
            </a:extLst>
          </p:cNvPr>
          <p:cNvSpPr>
            <a:spLocks noGrp="1"/>
          </p:cNvSpPr>
          <p:nvPr>
            <p:ph type="dt" idx="1"/>
          </p:nvPr>
        </p:nvSpPr>
        <p:spPr/>
        <p:txBody>
          <a:bodyPr/>
          <a:lstStyle/>
          <a:p>
            <a:pPr>
              <a:defRPr/>
            </a:pPr>
            <a:fld id="{4EF0DA95-F8C4-4E47-A32C-DA431653DBB5}"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CE5B6655-8012-0442-90EB-333DDE532937}"/>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289069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为了更清晰地理解这一过程，我们来看一下</a:t>
            </a:r>
            <a:r>
              <a:rPr lang="en-US" altLang="zh-CN" dirty="0"/>
              <a:t>LLM</a:t>
            </a:r>
            <a:r>
              <a:rPr lang="zh-CN" altLang="en-US" dirty="0"/>
              <a:t>训练与</a:t>
            </a:r>
            <a:r>
              <a:rPr lang="en-US" altLang="zh-CN" dirty="0"/>
              <a:t>SFT</a:t>
            </a:r>
            <a:r>
              <a:rPr lang="zh-CN" altLang="en-US" dirty="0"/>
              <a:t>数据优化的一般流程。</a:t>
            </a:r>
            <a:endParaRPr lang="en-US" altLang="zh-CN" dirty="0"/>
          </a:p>
          <a:p>
            <a:r>
              <a:rPr lang="zh-CN" altLang="en-US" dirty="0"/>
              <a:t>整个流程可以分为两大核心阶段。</a:t>
            </a:r>
            <a:endParaRPr lang="en-US" altLang="zh-CN" dirty="0"/>
          </a:p>
          <a:p>
            <a:endParaRPr lang="en-US" altLang="zh-CN" dirty="0"/>
          </a:p>
          <a:p>
            <a:r>
              <a:rPr lang="zh-CN" altLang="en-US" dirty="0"/>
              <a:t>第一部分是</a:t>
            </a:r>
            <a:r>
              <a:rPr lang="en-US" altLang="zh-CN" dirty="0"/>
              <a:t>LLM</a:t>
            </a:r>
            <a:r>
              <a:rPr lang="zh-CN" altLang="en-US" dirty="0"/>
              <a:t>的训练过程：它首先经历“预训练”阶段，在此阶段，</a:t>
            </a:r>
            <a:r>
              <a:rPr lang="en-US" altLang="zh-CN" dirty="0"/>
              <a:t>LLM</a:t>
            </a:r>
            <a:r>
              <a:rPr lang="zh-CN" altLang="en-US" dirty="0"/>
              <a:t>通过无监督学习从海量的通用语料库中汲取知识，从而习得广泛的通用知识和强大的语言能力 。紧接着是“</a:t>
            </a:r>
            <a:r>
              <a:rPr lang="en-US" altLang="zh-CN" dirty="0"/>
              <a:t>SFT</a:t>
            </a:r>
            <a:r>
              <a:rPr lang="zh-CN" altLang="en-US" dirty="0"/>
              <a:t>（监督微调）”阶段，在此基础上，模型会利用特定任务的标注数据集进行进一步的微调，以发展其精确指令遵循的能力，并使模型的输出与人类的偏好高度对齐 。</a:t>
            </a:r>
            <a:endParaRPr lang="en-US" altLang="zh-CN" dirty="0"/>
          </a:p>
          <a:p>
            <a:endParaRPr lang="en-US" altLang="zh-CN" dirty="0"/>
          </a:p>
          <a:p>
            <a:r>
              <a:rPr lang="zh-CN" altLang="en-US" dirty="0"/>
              <a:t>第二部分则专注于</a:t>
            </a:r>
            <a:r>
              <a:rPr lang="en-US" altLang="zh-CN" dirty="0"/>
              <a:t>SFT</a:t>
            </a:r>
            <a:r>
              <a:rPr lang="zh-CN" altLang="en-US" dirty="0"/>
              <a:t>数据优化或选择的典型步骤：首先是“数据收集”，即获取原始的指令</a:t>
            </a:r>
            <a:r>
              <a:rPr lang="en-US" altLang="zh-CN" dirty="0"/>
              <a:t>-</a:t>
            </a:r>
            <a:r>
              <a:rPr lang="zh-CN" altLang="en-US" dirty="0"/>
              <a:t>响应对 ；随后进行“数据评估”，对收集到的样本进行质量评判，这通常会借助奖励模型、人工设定的启发式规则，或者使用较小的</a:t>
            </a:r>
            <a:r>
              <a:rPr lang="en-US" altLang="zh-CN" dirty="0"/>
              <a:t>LLM</a:t>
            </a:r>
            <a:r>
              <a:rPr lang="zh-CN" altLang="en-US" dirty="0"/>
              <a:t>进行评分 ；</a:t>
            </a:r>
            <a:endParaRPr lang="en-US" altLang="zh-CN" dirty="0"/>
          </a:p>
          <a:p>
            <a:r>
              <a:rPr lang="en-US" altLang="zh-CN" dirty="0"/>
              <a:t>	</a:t>
            </a:r>
            <a:r>
              <a:rPr lang="zh-CN" altLang="en-US" dirty="0"/>
              <a:t>接着是“数据筛选</a:t>
            </a:r>
            <a:r>
              <a:rPr lang="en-US" altLang="zh-CN" dirty="0"/>
              <a:t>/</a:t>
            </a:r>
            <a:r>
              <a:rPr lang="zh-CN" altLang="en-US" dirty="0"/>
              <a:t>增强”阶段，其中“筛选”是根据评估结果剔除低质量或不相关的样本 ，而“增强”则是通过生成新的、多样化的样本来有效扩充数据集 ；</a:t>
            </a:r>
            <a:endParaRPr lang="en-US" altLang="zh-CN" dirty="0"/>
          </a:p>
          <a:p>
            <a:r>
              <a:rPr lang="en-US" altLang="zh-CN" dirty="0"/>
              <a:t>	</a:t>
            </a:r>
            <a:r>
              <a:rPr lang="zh-CN" altLang="en-US" dirty="0"/>
              <a:t>最后，使用这些经过优化处理的</a:t>
            </a:r>
            <a:r>
              <a:rPr lang="en-US" altLang="zh-CN" dirty="0"/>
              <a:t>SFT</a:t>
            </a:r>
            <a:r>
              <a:rPr lang="zh-CN" altLang="en-US" dirty="0"/>
              <a:t>数据集对</a:t>
            </a:r>
            <a:r>
              <a:rPr lang="en-US" altLang="zh-CN" dirty="0"/>
              <a:t>LLM</a:t>
            </a:r>
            <a:r>
              <a:rPr lang="zh-CN" altLang="en-US" dirty="0"/>
              <a:t>进行“模型微调” ，并最终在各种基准测试集上“评估”微调后</a:t>
            </a:r>
            <a:r>
              <a:rPr lang="en-US" altLang="zh-CN" dirty="0"/>
              <a:t>LLM</a:t>
            </a:r>
            <a:r>
              <a:rPr lang="zh-CN" altLang="en-US" dirty="0"/>
              <a:t>的性能 。</a:t>
            </a:r>
          </a:p>
        </p:txBody>
      </p:sp>
      <p:sp>
        <p:nvSpPr>
          <p:cNvPr id="4" name="日期占位符 3"/>
          <p:cNvSpPr>
            <a:spLocks noGrp="1"/>
          </p:cNvSpPr>
          <p:nvPr>
            <p:ph type="dt" idx="1"/>
          </p:nvPr>
        </p:nvSpPr>
        <p:spPr/>
        <p:txBody>
          <a:bodyPr/>
          <a:lstStyle/>
          <a:p>
            <a:pPr>
              <a:defRPr/>
            </a:pPr>
            <a:fld id="{B2C0523D-71EE-4ECE-B037-A18FB4E20D8C}" type="datetime1">
              <a:rPr lang="zh-CN" altLang="en-US" smtClean="0"/>
              <a:t>2025/7/30/Wed</a:t>
            </a:fld>
            <a:endParaRPr lang="zh-CN" altLang="en-US"/>
          </a:p>
        </p:txBody>
      </p:sp>
      <p:sp>
        <p:nvSpPr>
          <p:cNvPr id="5" name="页脚占位符 4"/>
          <p:cNvSpPr>
            <a:spLocks noGrp="1"/>
          </p:cNvSpPr>
          <p:nvPr>
            <p:ph type="ftr" sz="quarter" idx="4"/>
          </p:nvPr>
        </p:nvSpPr>
        <p:spPr/>
        <p:txBody>
          <a:bodyPr/>
          <a:lstStyle/>
          <a:p>
            <a:pPr>
              <a:defRPr/>
            </a:pPr>
            <a:endParaRPr lang="zh-CN" altLang="en-US"/>
          </a:p>
        </p:txBody>
      </p:sp>
      <p:sp>
        <p:nvSpPr>
          <p:cNvPr id="6" name="灯片编号占位符 5"/>
          <p:cNvSpPr>
            <a:spLocks noGrp="1"/>
          </p:cNvSpPr>
          <p:nvPr>
            <p:ph type="sldNum" sz="quarter" idx="5"/>
          </p:nvPr>
        </p:nvSpPr>
        <p:spPr/>
        <p:txBody>
          <a:bodyPr/>
          <a:lstStyle/>
          <a:p>
            <a:pPr>
              <a:defRPr/>
            </a:pPr>
            <a:fld id="{BD9E290E-B897-4C81-8DB9-5E218080C6B9}" type="slidenum">
              <a:rPr lang="zh-CN" altLang="en-US" smtClean="0"/>
              <a:t>4</a:t>
            </a:fld>
            <a:endParaRPr lang="zh-CN" altLang="en-US"/>
          </a:p>
        </p:txBody>
      </p:sp>
    </p:spTree>
    <p:extLst>
      <p:ext uri="{BB962C8B-B14F-4D97-AF65-F5344CB8AC3E}">
        <p14:creationId xmlns:p14="http://schemas.microsoft.com/office/powerpoint/2010/main" val="428775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接下来，我们将详细探讨当前</a:t>
            </a:r>
            <a:r>
              <a:rPr lang="en-US" altLang="zh-CN" dirty="0"/>
              <a:t>LLM</a:t>
            </a:r>
            <a:r>
              <a:rPr lang="zh-CN" altLang="en-US" dirty="0"/>
              <a:t>微调数据优化领域的研究现状。</a:t>
            </a:r>
          </a:p>
          <a:p>
            <a:endParaRPr lang="zh-CN" altLang="en-US" dirty="0"/>
          </a:p>
        </p:txBody>
      </p:sp>
      <p:sp>
        <p:nvSpPr>
          <p:cNvPr id="4" name="灯片编号占位符 3">
            <a:extLst>
              <a:ext uri="{FF2B5EF4-FFF2-40B4-BE49-F238E27FC236}">
                <a16:creationId xmlns:a16="http://schemas.microsoft.com/office/drawing/2014/main" id="{DEDA9EF8-A114-094B-BE03-83F1F4D0E0FF}"/>
              </a:ext>
            </a:extLst>
          </p:cNvPr>
          <p:cNvSpPr>
            <a:spLocks noGrp="1"/>
          </p:cNvSpPr>
          <p:nvPr>
            <p:ph type="sldNum" sz="quarter" idx="5"/>
          </p:nvPr>
        </p:nvSpPr>
        <p:spPr/>
        <p:txBody>
          <a:bodyPr/>
          <a:lstStyle/>
          <a:p>
            <a:pPr>
              <a:defRPr/>
            </a:pPr>
            <a:fld id="{BD9E290E-B897-4C81-8DB9-5E218080C6B9}" type="slidenum">
              <a:rPr lang="zh-CN" altLang="en-US" smtClean="0"/>
              <a:t>5</a:t>
            </a:fld>
            <a:endParaRPr lang="zh-CN" altLang="en-US"/>
          </a:p>
        </p:txBody>
      </p:sp>
      <p:sp>
        <p:nvSpPr>
          <p:cNvPr id="5" name="日期占位符 4">
            <a:extLst>
              <a:ext uri="{FF2B5EF4-FFF2-40B4-BE49-F238E27FC236}">
                <a16:creationId xmlns:a16="http://schemas.microsoft.com/office/drawing/2014/main" id="{A4A3C7D7-8192-1342-A7E0-73DB93280722}"/>
              </a:ext>
            </a:extLst>
          </p:cNvPr>
          <p:cNvSpPr>
            <a:spLocks noGrp="1"/>
          </p:cNvSpPr>
          <p:nvPr>
            <p:ph type="dt" idx="1"/>
          </p:nvPr>
        </p:nvSpPr>
        <p:spPr/>
        <p:txBody>
          <a:bodyPr/>
          <a:lstStyle/>
          <a:p>
            <a:pPr>
              <a:defRPr/>
            </a:pPr>
            <a:fld id="{2745F830-5310-4D26-9FFA-B566F18B650D}"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247DEBC8-D6FA-D84E-B86E-05E4F894111B}"/>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3253025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当前</a:t>
            </a:r>
            <a:r>
              <a:rPr lang="en-US" altLang="zh-CN" dirty="0"/>
              <a:t>LLM</a:t>
            </a:r>
            <a:r>
              <a:rPr lang="zh-CN" altLang="en-US" dirty="0"/>
              <a:t>微调数据优化的方法主要可以归结为两大类别 。第一类是基于复杂数据过滤策略的方法，这类方法通常利用 复杂的人工启发式</a:t>
            </a:r>
            <a:r>
              <a:rPr lang="zh-CN" altLang="en-US" b="1" dirty="0"/>
              <a:t>数据过滤机制</a:t>
            </a:r>
            <a:r>
              <a:rPr lang="zh-CN" altLang="en-US" dirty="0"/>
              <a:t>来精心提取信息量丰富的样本，或者依赖于像</a:t>
            </a:r>
            <a:r>
              <a:rPr lang="en-US" altLang="zh-CN" dirty="0"/>
              <a:t>GPT-4</a:t>
            </a:r>
            <a:r>
              <a:rPr lang="zh-CN" altLang="en-US" dirty="0"/>
              <a:t>这样功能强大的</a:t>
            </a:r>
            <a:r>
              <a:rPr lang="en-US" altLang="zh-CN" dirty="0"/>
              <a:t>LLM</a:t>
            </a:r>
            <a:r>
              <a:rPr lang="zh-CN" altLang="en-US" dirty="0"/>
              <a:t>进行自动化数据评分和筛选 。尽管这种方法在一定程度上可以提升数据质量，但其复杂性和对高级模型的依赖性带来了较高的成本。</a:t>
            </a:r>
            <a:endParaRPr lang="en-US" altLang="zh-CN" dirty="0"/>
          </a:p>
          <a:p>
            <a:r>
              <a:rPr lang="zh-CN" altLang="en-US" dirty="0"/>
              <a:t>第二类方法则是基于人工标注高质量数据，这包括直接依赖大量人类标注者来生成精确且符合要求的指令</a:t>
            </a:r>
            <a:r>
              <a:rPr lang="en-US" altLang="zh-CN" dirty="0"/>
              <a:t>-</a:t>
            </a:r>
            <a:r>
              <a:rPr lang="zh-CN" altLang="en-US" dirty="0"/>
              <a:t>响应对，或者通过提示更强大的</a:t>
            </a:r>
            <a:r>
              <a:rPr lang="en-US" altLang="zh-CN" dirty="0"/>
              <a:t>LLM</a:t>
            </a:r>
            <a:r>
              <a:rPr lang="zh-CN" altLang="en-US" dirty="0"/>
              <a:t>来生成高质量的合成数据 。虽然人工标注可以确保数据质量，但其固有的高昂成本和费时特性限制了其大规模应用；而依赖</a:t>
            </a:r>
            <a:r>
              <a:rPr lang="en-US" altLang="zh-CN" dirty="0"/>
              <a:t>LLM</a:t>
            </a:r>
            <a:r>
              <a:rPr lang="zh-CN" altLang="en-US" dirty="0"/>
              <a:t>生成合成数据则可能引入模型自身的偏见，从而降低数据的多样性，进一步制约了这些方法的可扩展性，使其难以在更广泛的场景中灵活应用 。</a:t>
            </a:r>
            <a:endParaRPr lang="en-US" altLang="zh-CN" dirty="0"/>
          </a:p>
          <a:p>
            <a:endParaRPr lang="en-US" altLang="zh-CN" dirty="0"/>
          </a:p>
          <a:p>
            <a:r>
              <a:rPr lang="en-US" altLang="zh-CN" b="1" dirty="0"/>
              <a:t>[</a:t>
            </a:r>
            <a:r>
              <a:rPr lang="zh-CN" altLang="en-US" b="1" dirty="0"/>
              <a:t>偏见</a:t>
            </a:r>
            <a:r>
              <a:rPr lang="en-US" altLang="zh-CN" b="1" dirty="0"/>
              <a:t>]</a:t>
            </a:r>
          </a:p>
          <a:p>
            <a:r>
              <a:rPr lang="zh-CN" altLang="en-US" dirty="0"/>
              <a:t>在数据筛选、增强或采样的过程中，如果某些策略过于依赖人工规则或不均衡的数据样本，它们可能会引入偏见。例如：</a:t>
            </a:r>
          </a:p>
          <a:p>
            <a:r>
              <a:rPr lang="zh-CN" altLang="en-US" b="1" dirty="0"/>
              <a:t>人工筛选偏见</a:t>
            </a:r>
            <a:r>
              <a:rPr lang="zh-CN" altLang="en-US" dirty="0"/>
              <a:t>：如果数据样本选择依赖于人工经验或专家的判断，可能会优先选择符合专家观点的数据，而忽视那些能提供不同视角的数据，导致数据集的多样性不足。</a:t>
            </a:r>
          </a:p>
          <a:p>
            <a:r>
              <a:rPr lang="zh-CN" altLang="en-US" b="1" dirty="0"/>
              <a:t>数据增强偏见</a:t>
            </a:r>
            <a:r>
              <a:rPr lang="zh-CN" altLang="en-US" dirty="0"/>
              <a:t>：如果数据增强方法过于单一，可能会增加某些类型的数据样本，而没有充分考虑到数据的多样性，导致模型只能学习到某些特定模式。</a:t>
            </a:r>
          </a:p>
          <a:p>
            <a:r>
              <a:rPr lang="zh-CN" altLang="en-US" b="1" dirty="0"/>
              <a:t>采样偏见</a:t>
            </a:r>
            <a:r>
              <a:rPr lang="zh-CN" altLang="en-US" dirty="0"/>
              <a:t>：在不平衡数据中，如果采样方法偏向某些类别，可能导致模型过于倾向于学习到这些类别，从而忽略了其他类别的信息。</a:t>
            </a:r>
          </a:p>
          <a:p>
            <a:endParaRPr lang="zh-CN" altLang="en-US" dirty="0"/>
          </a:p>
        </p:txBody>
      </p:sp>
      <p:sp>
        <p:nvSpPr>
          <p:cNvPr id="4" name="灯片编号占位符 3">
            <a:extLst>
              <a:ext uri="{FF2B5EF4-FFF2-40B4-BE49-F238E27FC236}">
                <a16:creationId xmlns:a16="http://schemas.microsoft.com/office/drawing/2014/main" id="{17C47EBF-C1E3-2C4B-BE5B-CC2B5001AB11}"/>
              </a:ext>
            </a:extLst>
          </p:cNvPr>
          <p:cNvSpPr>
            <a:spLocks noGrp="1"/>
          </p:cNvSpPr>
          <p:nvPr>
            <p:ph type="sldNum" sz="quarter" idx="5"/>
          </p:nvPr>
        </p:nvSpPr>
        <p:spPr/>
        <p:txBody>
          <a:bodyPr/>
          <a:lstStyle/>
          <a:p>
            <a:pPr>
              <a:defRPr/>
            </a:pPr>
            <a:fld id="{BD9E290E-B897-4C81-8DB9-5E218080C6B9}" type="slidenum">
              <a:rPr lang="zh-CN" altLang="en-US" smtClean="0"/>
              <a:t>6</a:t>
            </a:fld>
            <a:endParaRPr lang="zh-CN" altLang="en-US"/>
          </a:p>
        </p:txBody>
      </p:sp>
      <p:sp>
        <p:nvSpPr>
          <p:cNvPr id="5" name="日期占位符 4">
            <a:extLst>
              <a:ext uri="{FF2B5EF4-FFF2-40B4-BE49-F238E27FC236}">
                <a16:creationId xmlns:a16="http://schemas.microsoft.com/office/drawing/2014/main" id="{18FFA110-4FAD-B14D-80A2-86E05F826167}"/>
              </a:ext>
            </a:extLst>
          </p:cNvPr>
          <p:cNvSpPr>
            <a:spLocks noGrp="1"/>
          </p:cNvSpPr>
          <p:nvPr>
            <p:ph type="dt" idx="1"/>
          </p:nvPr>
        </p:nvSpPr>
        <p:spPr/>
        <p:txBody>
          <a:bodyPr/>
          <a:lstStyle/>
          <a:p>
            <a:pPr>
              <a:defRPr/>
            </a:pPr>
            <a:fld id="{5F63C8AC-1B98-4E17-94B8-7B6C658FA9B0}"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D2B90640-208B-2D43-A090-A4546B313CC6}"/>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718068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F6B4761-4465-8247-884A-301881167D16}"/>
              </a:ext>
            </a:extLst>
          </p:cNvPr>
          <p:cNvSpPr>
            <a:spLocks noGrp="1"/>
          </p:cNvSpPr>
          <p:nvPr>
            <p:ph type="sldNum" sz="quarter" idx="5"/>
          </p:nvPr>
        </p:nvSpPr>
        <p:spPr/>
        <p:txBody>
          <a:bodyPr/>
          <a:lstStyle/>
          <a:p>
            <a:pPr>
              <a:defRPr/>
            </a:pPr>
            <a:fld id="{BD9E290E-B897-4C81-8DB9-5E218080C6B9}" type="slidenum">
              <a:rPr lang="zh-CN" altLang="en-US" smtClean="0"/>
              <a:t>7</a:t>
            </a:fld>
            <a:endParaRPr lang="zh-CN" altLang="en-US"/>
          </a:p>
        </p:txBody>
      </p:sp>
      <p:sp>
        <p:nvSpPr>
          <p:cNvPr id="5" name="日期占位符 4">
            <a:extLst>
              <a:ext uri="{FF2B5EF4-FFF2-40B4-BE49-F238E27FC236}">
                <a16:creationId xmlns:a16="http://schemas.microsoft.com/office/drawing/2014/main" id="{90EC4B23-2E51-D843-A971-A09A9F84127D}"/>
              </a:ext>
            </a:extLst>
          </p:cNvPr>
          <p:cNvSpPr>
            <a:spLocks noGrp="1"/>
          </p:cNvSpPr>
          <p:nvPr>
            <p:ph type="dt" idx="1"/>
          </p:nvPr>
        </p:nvSpPr>
        <p:spPr/>
        <p:txBody>
          <a:bodyPr/>
          <a:lstStyle/>
          <a:p>
            <a:pPr>
              <a:defRPr/>
            </a:pPr>
            <a:fld id="{B1431839-C980-4D9B-BD00-45223C59D92A}"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6A2BE388-4E9E-E84A-A717-FD6BB78D6046}"/>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391539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IFD</a:t>
            </a:r>
            <a:r>
              <a:rPr lang="zh-CN" altLang="en-US" dirty="0"/>
              <a:t>提出了一种名为“</a:t>
            </a:r>
            <a:r>
              <a:rPr lang="en-US" altLang="zh-CN" dirty="0"/>
              <a:t>Instruction-Following Difficulty (IFD)”</a:t>
            </a:r>
            <a:r>
              <a:rPr lang="zh-CN" altLang="en-US" dirty="0"/>
              <a:t>的度量标准</a:t>
            </a:r>
            <a:r>
              <a:rPr lang="en-US" altLang="zh-CN" dirty="0"/>
              <a:t>,</a:t>
            </a:r>
            <a:r>
              <a:rPr lang="zh-CN" altLang="en-US" dirty="0"/>
              <a:t> （</a:t>
            </a:r>
            <a:r>
              <a:rPr lang="en-US" altLang="zh-CN" dirty="0"/>
              <a:t>IFD</a:t>
            </a:r>
            <a:r>
              <a:rPr lang="zh-CN" altLang="en-US" dirty="0"/>
              <a:t>）这一指标，该指标是基于答案在给定问题下的对数概率与答案自身对数概率的比值，用于量化模型预期输出与其内在泛化能力之间的差距，并利用该度量标准从原始数据集中选择信息量更大的样本进行指令微调。</a:t>
            </a:r>
            <a:endParaRPr lang="en-US" altLang="zh-CN" dirty="0"/>
          </a:p>
          <a:p>
            <a:endParaRPr lang="en-US" altLang="zh-CN" dirty="0"/>
          </a:p>
          <a:p>
            <a:r>
              <a:rPr lang="zh-CN" altLang="en-US" dirty="0"/>
              <a:t>这项工作提出了一种创新的自引导数据选择框架，旨在提升指令微调中</a:t>
            </a:r>
            <a:r>
              <a:rPr lang="en-US" altLang="zh-CN" dirty="0"/>
              <a:t>LLM</a:t>
            </a:r>
            <a:r>
              <a:rPr lang="zh-CN" altLang="en-US" dirty="0"/>
              <a:t>的性能。该方法的核心思想在于三阶段流程：首先是“从简短经验中学习”，即通过小批量数据进行初步微调；接着是“基于经验进行评估”，利用微调后的模型来评估整个指令数据的质量；最后是“从自引导经验中再训练”，根据评估结果选择高质量数据进行最终的微调 。</a:t>
            </a:r>
            <a:br>
              <a:rPr lang="en-US" altLang="zh-CN" dirty="0"/>
            </a:br>
            <a:br>
              <a:rPr lang="en-US" altLang="zh-CN" dirty="0"/>
            </a:br>
            <a:r>
              <a:rPr lang="en-US" altLang="zh-CN" dirty="0"/>
              <a:t>IFD</a:t>
            </a:r>
            <a:r>
              <a:rPr lang="zh-CN" altLang="en-US" dirty="0"/>
              <a:t>等方法虽然能选择信息量大的样本，但可能直接丢弃被认为是“噪音”或“不重要”的数据。然而，这些被丢弃的数据可能实际上是难以学习的样本，直接舍弃可能导致有价值信息的丢失。因此，如何识别并充分利用</a:t>
            </a:r>
            <a:r>
              <a:rPr lang="en-US" altLang="zh-CN" dirty="0"/>
              <a:t>SFT</a:t>
            </a:r>
            <a:r>
              <a:rPr lang="zh-CN" altLang="en-US" dirty="0"/>
              <a:t>数据集中的“难样本”仍然是一个紧迫的问题。</a:t>
            </a:r>
          </a:p>
        </p:txBody>
      </p:sp>
      <p:sp>
        <p:nvSpPr>
          <p:cNvPr id="4" name="灯片编号占位符 3">
            <a:extLst>
              <a:ext uri="{FF2B5EF4-FFF2-40B4-BE49-F238E27FC236}">
                <a16:creationId xmlns:a16="http://schemas.microsoft.com/office/drawing/2014/main" id="{95FA4949-98A2-B14B-B4C4-61C8C826EF46}"/>
              </a:ext>
            </a:extLst>
          </p:cNvPr>
          <p:cNvSpPr>
            <a:spLocks noGrp="1"/>
          </p:cNvSpPr>
          <p:nvPr>
            <p:ph type="sldNum" sz="quarter" idx="5"/>
          </p:nvPr>
        </p:nvSpPr>
        <p:spPr/>
        <p:txBody>
          <a:bodyPr/>
          <a:lstStyle/>
          <a:p>
            <a:pPr>
              <a:defRPr/>
            </a:pPr>
            <a:fld id="{BD9E290E-B897-4C81-8DB9-5E218080C6B9}" type="slidenum">
              <a:rPr lang="zh-CN" altLang="en-US" smtClean="0"/>
              <a:t>8</a:t>
            </a:fld>
            <a:endParaRPr lang="zh-CN" altLang="en-US"/>
          </a:p>
        </p:txBody>
      </p:sp>
      <p:sp>
        <p:nvSpPr>
          <p:cNvPr id="5" name="日期占位符 4">
            <a:extLst>
              <a:ext uri="{FF2B5EF4-FFF2-40B4-BE49-F238E27FC236}">
                <a16:creationId xmlns:a16="http://schemas.microsoft.com/office/drawing/2014/main" id="{84FA6356-751E-2F43-842A-5FC553184A95}"/>
              </a:ext>
            </a:extLst>
          </p:cNvPr>
          <p:cNvSpPr>
            <a:spLocks noGrp="1"/>
          </p:cNvSpPr>
          <p:nvPr>
            <p:ph type="dt" idx="1"/>
          </p:nvPr>
        </p:nvSpPr>
        <p:spPr/>
        <p:txBody>
          <a:bodyPr/>
          <a:lstStyle/>
          <a:p>
            <a:pPr>
              <a:defRPr/>
            </a:pPr>
            <a:fld id="{255B991E-D3F8-4C1C-ABD2-FEEE04C88AC1}"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FE1C3540-8B70-E048-AB35-2C3DCCD133B0}"/>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13107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a:t>
            </a:r>
            <a:r>
              <a:rPr lang="en-US" altLang="zh-CN" dirty="0" err="1"/>
              <a:t>Chunting</a:t>
            </a:r>
            <a:r>
              <a:rPr lang="en-US" altLang="zh-CN" dirty="0"/>
              <a:t> Zhou</a:t>
            </a:r>
            <a:r>
              <a:rPr lang="zh-CN" altLang="en-US" dirty="0"/>
              <a:t>等人在</a:t>
            </a:r>
            <a:r>
              <a:rPr lang="en-US" altLang="zh-CN" dirty="0"/>
              <a:t>2024</a:t>
            </a:r>
            <a:r>
              <a:rPr lang="zh-CN" altLang="en-US" dirty="0"/>
              <a:t>年</a:t>
            </a:r>
            <a:r>
              <a:rPr lang="en-US" altLang="zh-CN" dirty="0" err="1"/>
              <a:t>NeurIPS</a:t>
            </a:r>
            <a:r>
              <a:rPr lang="zh-CN" altLang="en-US" dirty="0"/>
              <a:t>上发表的里程碑式工作：“</a:t>
            </a:r>
            <a:r>
              <a:rPr lang="en-US" altLang="zh-CN" dirty="0"/>
              <a:t>LIMA: Less Is More for Alignment” </a:t>
            </a:r>
            <a:r>
              <a:rPr lang="zh-CN" altLang="en-US" dirty="0"/>
              <a:t>。这项研究提出了一个非常引人深思的观点：对于</a:t>
            </a:r>
            <a:r>
              <a:rPr lang="en-US" altLang="zh-CN" dirty="0"/>
              <a:t>LLM</a:t>
            </a:r>
            <a:r>
              <a:rPr lang="zh-CN" altLang="en-US" dirty="0"/>
              <a:t>的对齐，少即是多。他们通过实验证明，一个强大的预训练大语言模型，即使只使用数量极少但质量极高的微调数据（例如，仅仅</a:t>
            </a:r>
            <a:r>
              <a:rPr lang="en-US" altLang="zh-CN" dirty="0"/>
              <a:t>1000</a:t>
            </a:r>
            <a:r>
              <a:rPr lang="zh-CN" altLang="en-US" dirty="0"/>
              <a:t>个精心挑选的高质量、多样化的指令</a:t>
            </a:r>
            <a:r>
              <a:rPr lang="en-US" altLang="zh-CN" dirty="0"/>
              <a:t>-</a:t>
            </a:r>
            <a:r>
              <a:rPr lang="zh-CN" altLang="en-US" dirty="0"/>
              <a:t>响应对），也能够达到甚至超越使用复杂强化学习人类反馈（</a:t>
            </a:r>
            <a:r>
              <a:rPr lang="en-US" altLang="zh-CN" dirty="0"/>
              <a:t>RLHF</a:t>
            </a:r>
            <a:r>
              <a:rPr lang="zh-CN" altLang="en-US" dirty="0"/>
              <a:t>）模型的性能，并且在未曾见过的任务上展现出卓越的泛化能力 。</a:t>
            </a:r>
            <a:r>
              <a:rPr lang="en-US" altLang="zh-CN" dirty="0"/>
              <a:t>LIMA</a:t>
            </a:r>
            <a:r>
              <a:rPr lang="zh-CN" altLang="en-US" dirty="0"/>
              <a:t>的发现强调了在微调阶段数据质量的极端重要性，而非盲目追求数据量，为我们重新思考</a:t>
            </a:r>
            <a:r>
              <a:rPr lang="en-US" altLang="zh-CN" dirty="0"/>
              <a:t>LLM</a:t>
            </a:r>
            <a:r>
              <a:rPr lang="zh-CN" altLang="en-US" dirty="0"/>
              <a:t>的对齐策略提供了全新的视角和方向 。</a:t>
            </a:r>
            <a:endParaRPr lang="en-US" altLang="zh-CN" b="1" dirty="0"/>
          </a:p>
          <a:p>
            <a:endParaRPr lang="en-US" altLang="zh-CN" b="1" dirty="0"/>
          </a:p>
          <a:p>
            <a:endParaRPr lang="en-US" altLang="zh-CN" b="1" dirty="0"/>
          </a:p>
          <a:p>
            <a:r>
              <a:rPr lang="zh-CN" altLang="en-US" b="1" dirty="0"/>
              <a:t>浅层对齐假设</a:t>
            </a:r>
            <a:endParaRPr lang="zh-CN" altLang="en-US" dirty="0"/>
          </a:p>
          <a:p>
            <a:r>
              <a:rPr lang="zh-CN" altLang="en-US" dirty="0"/>
              <a:t>模型的知识和能力几乎完全是在预训练过程中学习的，而对齐训练教会模型在与用户交互时应该使用哪种格式子分布。</a:t>
            </a:r>
          </a:p>
          <a:p>
            <a:r>
              <a:rPr lang="zh-CN" altLang="en-US" dirty="0"/>
              <a:t>简单解释一下这个概念：</a:t>
            </a:r>
          </a:p>
          <a:p>
            <a:r>
              <a:rPr lang="zh-CN" altLang="en-US" dirty="0"/>
              <a:t>这个假设认为</a:t>
            </a:r>
            <a:r>
              <a:rPr lang="en-US" altLang="zh-CN" dirty="0"/>
              <a:t>AI</a:t>
            </a:r>
            <a:r>
              <a:rPr lang="zh-CN" altLang="en-US" dirty="0"/>
              <a:t>模型的核心能力（比如理解语言、推理、知识储备等）主要来自于预训练阶段，也就是模型在大量文本数据上进行的初始训练。而后续的对齐训练（比如人类反馈的强化学习）主要作用是教会模型以合适的方式与人类交流，选择恰当的回应风格和格式。</a:t>
            </a:r>
          </a:p>
          <a:p>
            <a:r>
              <a:rPr lang="zh-CN" altLang="en-US" dirty="0"/>
              <a:t>换句话说，预训练让模型</a:t>
            </a:r>
            <a:r>
              <a:rPr lang="en-US" altLang="zh-CN" dirty="0"/>
              <a:t>"</a:t>
            </a:r>
            <a:r>
              <a:rPr lang="zh-CN" altLang="en-US" dirty="0"/>
              <a:t>学会了什么</a:t>
            </a:r>
            <a:r>
              <a:rPr lang="en-US" altLang="zh-CN" dirty="0"/>
              <a:t>"</a:t>
            </a:r>
            <a:r>
              <a:rPr lang="zh-CN" altLang="en-US" dirty="0"/>
              <a:t>，对齐训练让模型</a:t>
            </a:r>
            <a:r>
              <a:rPr lang="en-US" altLang="zh-CN" dirty="0"/>
              <a:t>"</a:t>
            </a:r>
            <a:r>
              <a:rPr lang="zh-CN" altLang="en-US" dirty="0"/>
              <a:t>学会了怎么说</a:t>
            </a:r>
            <a:r>
              <a:rPr lang="en-US" altLang="zh-CN" dirty="0"/>
              <a:t>"</a:t>
            </a:r>
            <a:r>
              <a:rPr lang="zh-CN" altLang="en-US" dirty="0"/>
              <a:t>。</a:t>
            </a:r>
          </a:p>
          <a:p>
            <a:br>
              <a:rPr lang="en-US" altLang="zh-CN" dirty="0"/>
            </a:br>
            <a:br>
              <a:rPr lang="en-US" altLang="zh-CN" dirty="0"/>
            </a:br>
            <a:br>
              <a:rPr lang="en-US" altLang="zh-CN" dirty="0"/>
            </a:br>
            <a:r>
              <a:rPr lang="zh-CN" altLang="en-US" dirty="0"/>
              <a:t>通过在仅</a:t>
            </a:r>
            <a:r>
              <a:rPr lang="en-US" altLang="zh-CN" dirty="0"/>
              <a:t>1,000</a:t>
            </a:r>
            <a:r>
              <a:rPr lang="zh-CN" altLang="en-US" dirty="0"/>
              <a:t>个精心策划的提示</a:t>
            </a:r>
            <a:r>
              <a:rPr lang="en-US" altLang="zh-CN" dirty="0"/>
              <a:t>-</a:t>
            </a:r>
            <a:r>
              <a:rPr lang="zh-CN" altLang="en-US" dirty="0"/>
              <a:t>响应对上进行标准监督损失微调，无需依赖强化学习或人类偏好建模，即实现了令人印象深刻的性能。这表明高质量但数量较少的数据集在</a:t>
            </a:r>
            <a:r>
              <a:rPr lang="en-US" altLang="zh-CN" dirty="0"/>
              <a:t>LLM</a:t>
            </a:r>
            <a:r>
              <a:rPr lang="zh-CN" altLang="en-US" dirty="0"/>
              <a:t>对齐中的重要性。</a:t>
            </a:r>
            <a:br>
              <a:rPr lang="en-US" altLang="zh-CN" dirty="0"/>
            </a:br>
            <a:br>
              <a:rPr lang="en-US" altLang="zh-CN" dirty="0"/>
            </a:br>
            <a:r>
              <a:rPr lang="zh-CN" altLang="en-US" dirty="0"/>
              <a:t>尽管</a:t>
            </a:r>
            <a:r>
              <a:rPr lang="en-US" altLang="zh-CN" dirty="0"/>
              <a:t>LIMA</a:t>
            </a:r>
            <a:r>
              <a:rPr lang="zh-CN" altLang="en-US" dirty="0"/>
              <a:t>证明了少量高质量数据的重要性，但其“精心策划”的过程可能仍依赖于大量人工投入，且难以大规模复制，可能无法充分利用现有</a:t>
            </a:r>
            <a:r>
              <a:rPr lang="en-US" altLang="zh-CN" dirty="0"/>
              <a:t>SFT</a:t>
            </a:r>
            <a:r>
              <a:rPr lang="zh-CN" altLang="en-US" dirty="0"/>
              <a:t>数据集中更广泛的样本潜力。</a:t>
            </a:r>
          </a:p>
        </p:txBody>
      </p:sp>
      <p:sp>
        <p:nvSpPr>
          <p:cNvPr id="4" name="灯片编号占位符 3">
            <a:extLst>
              <a:ext uri="{FF2B5EF4-FFF2-40B4-BE49-F238E27FC236}">
                <a16:creationId xmlns:a16="http://schemas.microsoft.com/office/drawing/2014/main" id="{B5BB1339-6B3A-4A4A-BA4F-50E4AC412652}"/>
              </a:ext>
            </a:extLst>
          </p:cNvPr>
          <p:cNvSpPr>
            <a:spLocks noGrp="1"/>
          </p:cNvSpPr>
          <p:nvPr>
            <p:ph type="sldNum" sz="quarter" idx="5"/>
          </p:nvPr>
        </p:nvSpPr>
        <p:spPr/>
        <p:txBody>
          <a:bodyPr/>
          <a:lstStyle/>
          <a:p>
            <a:pPr>
              <a:defRPr/>
            </a:pPr>
            <a:fld id="{BD9E290E-B897-4C81-8DB9-5E218080C6B9}" type="slidenum">
              <a:rPr lang="zh-CN" altLang="en-US" smtClean="0"/>
              <a:t>9</a:t>
            </a:fld>
            <a:endParaRPr lang="zh-CN" altLang="en-US"/>
          </a:p>
        </p:txBody>
      </p:sp>
      <p:sp>
        <p:nvSpPr>
          <p:cNvPr id="5" name="日期占位符 4">
            <a:extLst>
              <a:ext uri="{FF2B5EF4-FFF2-40B4-BE49-F238E27FC236}">
                <a16:creationId xmlns:a16="http://schemas.microsoft.com/office/drawing/2014/main" id="{EE9FC17D-FA15-324F-9D75-DBFF2385E145}"/>
              </a:ext>
            </a:extLst>
          </p:cNvPr>
          <p:cNvSpPr>
            <a:spLocks noGrp="1"/>
          </p:cNvSpPr>
          <p:nvPr>
            <p:ph type="dt" idx="1"/>
          </p:nvPr>
        </p:nvSpPr>
        <p:spPr/>
        <p:txBody>
          <a:bodyPr/>
          <a:lstStyle/>
          <a:p>
            <a:pPr>
              <a:defRPr/>
            </a:pPr>
            <a:fld id="{EE367D61-65F7-46FB-9053-0D5070F95E5B}"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DCD68582-444A-D94A-9487-AFB8EFF41395}"/>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4142085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另一项值得关注的工作是</a:t>
            </a:r>
            <a:r>
              <a:rPr lang="en-US" altLang="zh-CN" dirty="0"/>
              <a:t>Xia M</a:t>
            </a:r>
            <a:r>
              <a:rPr lang="zh-CN" altLang="en-US" dirty="0"/>
              <a:t>等人在</a:t>
            </a:r>
            <a:r>
              <a:rPr lang="en-US" altLang="zh-CN" dirty="0"/>
              <a:t>ICML 2024</a:t>
            </a:r>
            <a:r>
              <a:rPr lang="zh-CN" altLang="en-US" dirty="0"/>
              <a:t>上发表的“</a:t>
            </a:r>
            <a:r>
              <a:rPr lang="en-US" altLang="zh-CN" dirty="0"/>
              <a:t>LESS: Selecting Influential Data for Targeted Instruction Tuning” </a:t>
            </a:r>
            <a:r>
              <a:rPr lang="zh-CN" altLang="en-US" dirty="0"/>
              <a:t>。</a:t>
            </a:r>
            <a:endParaRPr lang="en-US" altLang="zh-CN" dirty="0"/>
          </a:p>
          <a:p>
            <a:r>
              <a:rPr lang="zh-CN" altLang="en-US" dirty="0"/>
              <a:t>该研究专注于为目标指令微调选择最具影响力的数据。他们提出了一种四阶段的方法：</a:t>
            </a:r>
            <a:endParaRPr lang="en-US" altLang="zh-CN" dirty="0"/>
          </a:p>
          <a:p>
            <a:r>
              <a:rPr lang="zh-CN" altLang="en-US" dirty="0"/>
              <a:t>首先是“热身</a:t>
            </a:r>
            <a:r>
              <a:rPr lang="en-US" altLang="zh-CN" dirty="0" err="1"/>
              <a:t>LoRA</a:t>
            </a:r>
            <a:r>
              <a:rPr lang="zh-CN" altLang="en-US" dirty="0"/>
              <a:t>训练”，对模型进行初步训练；</a:t>
            </a:r>
            <a:endParaRPr lang="en-US" altLang="zh-CN" dirty="0"/>
          </a:p>
          <a:p>
            <a:r>
              <a:rPr lang="zh-CN" altLang="en-US" dirty="0"/>
              <a:t>接着是“计算梯度特征”，提取每个数据点的梯度信息；</a:t>
            </a:r>
            <a:endParaRPr lang="en-US" altLang="zh-CN" dirty="0"/>
          </a:p>
          <a:p>
            <a:r>
              <a:rPr lang="zh-CN" altLang="en-US" dirty="0"/>
              <a:t>然后是“选择数据”，通过计算每个样本对验证集损失的影响力来挑选数据；</a:t>
            </a:r>
            <a:endParaRPr lang="en-US" altLang="zh-CN" dirty="0"/>
          </a:p>
          <a:p>
            <a:r>
              <a:rPr lang="zh-CN" altLang="en-US" dirty="0"/>
              <a:t>最后是“训练”，使用这些精选数据进行最终的模型训练 。这项工作创新性地利用了平均损失梯度来量化每个训练样本对模型性能的贡献，从而实现更高效、更有针对性的数据选择 。</a:t>
            </a:r>
          </a:p>
        </p:txBody>
      </p:sp>
      <p:sp>
        <p:nvSpPr>
          <p:cNvPr id="4" name="日期占位符 3"/>
          <p:cNvSpPr>
            <a:spLocks noGrp="1"/>
          </p:cNvSpPr>
          <p:nvPr>
            <p:ph type="dt" idx="1"/>
          </p:nvPr>
        </p:nvSpPr>
        <p:spPr/>
        <p:txBody>
          <a:bodyPr/>
          <a:lstStyle/>
          <a:p>
            <a:pPr>
              <a:defRPr/>
            </a:pPr>
            <a:fld id="{B2C0523D-71EE-4ECE-B037-A18FB4E20D8C}" type="datetime1">
              <a:rPr lang="zh-CN" altLang="en-US" smtClean="0"/>
              <a:t>2025/7/30/Wed</a:t>
            </a:fld>
            <a:endParaRPr lang="zh-CN" altLang="en-US"/>
          </a:p>
        </p:txBody>
      </p:sp>
      <p:sp>
        <p:nvSpPr>
          <p:cNvPr id="5" name="页脚占位符 4"/>
          <p:cNvSpPr>
            <a:spLocks noGrp="1"/>
          </p:cNvSpPr>
          <p:nvPr>
            <p:ph type="ftr" sz="quarter" idx="4"/>
          </p:nvPr>
        </p:nvSpPr>
        <p:spPr/>
        <p:txBody>
          <a:bodyPr/>
          <a:lstStyle/>
          <a:p>
            <a:pPr>
              <a:defRPr/>
            </a:pPr>
            <a:endParaRPr lang="zh-CN" altLang="en-US"/>
          </a:p>
        </p:txBody>
      </p:sp>
      <p:sp>
        <p:nvSpPr>
          <p:cNvPr id="6" name="灯片编号占位符 5"/>
          <p:cNvSpPr>
            <a:spLocks noGrp="1"/>
          </p:cNvSpPr>
          <p:nvPr>
            <p:ph type="sldNum" sz="quarter" idx="5"/>
          </p:nvPr>
        </p:nvSpPr>
        <p:spPr/>
        <p:txBody>
          <a:bodyPr/>
          <a:lstStyle/>
          <a:p>
            <a:pPr>
              <a:defRPr/>
            </a:pPr>
            <a:fld id="{BD9E290E-B897-4C81-8DB9-5E218080C6B9}" type="slidenum">
              <a:rPr lang="zh-CN" altLang="en-US" smtClean="0"/>
              <a:t>10</a:t>
            </a:fld>
            <a:endParaRPr lang="zh-CN" altLang="en-US"/>
          </a:p>
        </p:txBody>
      </p:sp>
    </p:spTree>
    <p:extLst>
      <p:ext uri="{BB962C8B-B14F-4D97-AF65-F5344CB8AC3E}">
        <p14:creationId xmlns:p14="http://schemas.microsoft.com/office/powerpoint/2010/main" val="3000167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综合来看，当前</a:t>
            </a:r>
            <a:r>
              <a:rPr lang="en-US" altLang="zh-CN" dirty="0"/>
              <a:t>SFT</a:t>
            </a:r>
            <a:r>
              <a:rPr lang="zh-CN" altLang="en-US" dirty="0"/>
              <a:t>数据优化仍然面临着一系列亟待解决的问题 。</a:t>
            </a:r>
            <a:endParaRPr lang="en-US" altLang="zh-CN" dirty="0"/>
          </a:p>
          <a:p>
            <a:endParaRPr lang="en-US" altLang="zh-CN" dirty="0"/>
          </a:p>
          <a:p>
            <a:r>
              <a:rPr lang="zh-CN" altLang="en-US" dirty="0"/>
              <a:t>首先是数据成本高昂，无论是依赖人工标注还是利用专有</a:t>
            </a:r>
            <a:r>
              <a:rPr lang="en-US" altLang="zh-CN" dirty="0"/>
              <a:t>LLMs</a:t>
            </a:r>
            <a:r>
              <a:rPr lang="zh-CN" altLang="en-US" dirty="0"/>
              <a:t>生成数据，都带来了巨大的计算和人力投入，这严重阻碍了这些方法的广泛应用和规模化部署 。</a:t>
            </a:r>
            <a:endParaRPr lang="en-US" altLang="zh-CN" dirty="0"/>
          </a:p>
          <a:p>
            <a:endParaRPr lang="en-US" altLang="zh-CN" dirty="0"/>
          </a:p>
          <a:p>
            <a:r>
              <a:rPr lang="zh-CN" altLang="en-US" dirty="0"/>
              <a:t>其次是数据利用率不足，许多现有方法倾向于筛选出所谓的“高质量”或“信息量大”的样本，却可能直接丢弃那些被认为是“噪音”或“不重要”的数据，然而，这些被忽视的数据中可能恰恰包含了模型难以学习的“难样本”，从而导致有价值信息的丢失 。</a:t>
            </a:r>
            <a:endParaRPr lang="en-US" altLang="zh-CN" dirty="0"/>
          </a:p>
          <a:p>
            <a:endParaRPr lang="en-US" altLang="zh-CN" dirty="0"/>
          </a:p>
          <a:p>
            <a:r>
              <a:rPr lang="zh-CN" altLang="en-US" dirty="0"/>
              <a:t>第三是模型训练中容易出现过拟合与欠拟合的问题，传统的</a:t>
            </a:r>
            <a:r>
              <a:rPr lang="en-US" altLang="zh-CN" dirty="0"/>
              <a:t>SFT</a:t>
            </a:r>
            <a:r>
              <a:rPr lang="zh-CN" altLang="en-US" dirty="0"/>
              <a:t>训练方式可能使模型过度适应简单样本而出现过拟合，同时却对复杂或难以学习的样本表现出欠拟合，未能充分挖掘</a:t>
            </a:r>
            <a:r>
              <a:rPr lang="en-US" altLang="zh-CN" dirty="0"/>
              <a:t>SFT</a:t>
            </a:r>
            <a:r>
              <a:rPr lang="zh-CN" altLang="en-US" dirty="0"/>
              <a:t>数据集的内在潜力 。</a:t>
            </a:r>
            <a:endParaRPr lang="en-US" altLang="zh-CN" dirty="0"/>
          </a:p>
          <a:p>
            <a:endParaRPr lang="en-US" altLang="zh-CN" dirty="0"/>
          </a:p>
          <a:p>
            <a:r>
              <a:rPr lang="zh-CN" altLang="en-US" dirty="0"/>
              <a:t>最后一点，也是非常关键的一点，是现有方法普遍缺乏对数据内在属性的充分利用，例如样本难度、模型学习动态等深层次信息，这限制了</a:t>
            </a:r>
            <a:r>
              <a:rPr lang="en-US" altLang="zh-CN" dirty="0"/>
              <a:t>LLMs</a:t>
            </a:r>
            <a:r>
              <a:rPr lang="zh-CN" altLang="en-US" dirty="0"/>
              <a:t>潜在性能的进一步提升 。</a:t>
            </a:r>
          </a:p>
        </p:txBody>
      </p:sp>
      <p:sp>
        <p:nvSpPr>
          <p:cNvPr id="4" name="日期占位符 3"/>
          <p:cNvSpPr>
            <a:spLocks noGrp="1"/>
          </p:cNvSpPr>
          <p:nvPr>
            <p:ph type="dt" idx="1"/>
          </p:nvPr>
        </p:nvSpPr>
        <p:spPr/>
        <p:txBody>
          <a:bodyPr/>
          <a:lstStyle/>
          <a:p>
            <a:pPr>
              <a:defRPr/>
            </a:pPr>
            <a:fld id="{B2C0523D-71EE-4ECE-B037-A18FB4E20D8C}" type="datetime1">
              <a:rPr lang="zh-CN" altLang="en-US" smtClean="0"/>
              <a:t>2025/7/30/Wed</a:t>
            </a:fld>
            <a:endParaRPr lang="zh-CN" altLang="en-US"/>
          </a:p>
        </p:txBody>
      </p:sp>
      <p:sp>
        <p:nvSpPr>
          <p:cNvPr id="5" name="页脚占位符 4"/>
          <p:cNvSpPr>
            <a:spLocks noGrp="1"/>
          </p:cNvSpPr>
          <p:nvPr>
            <p:ph type="ftr" sz="quarter" idx="4"/>
          </p:nvPr>
        </p:nvSpPr>
        <p:spPr/>
        <p:txBody>
          <a:bodyPr/>
          <a:lstStyle/>
          <a:p>
            <a:pPr>
              <a:defRPr/>
            </a:pPr>
            <a:endParaRPr lang="zh-CN" altLang="en-US"/>
          </a:p>
        </p:txBody>
      </p:sp>
      <p:sp>
        <p:nvSpPr>
          <p:cNvPr id="6" name="灯片编号占位符 5"/>
          <p:cNvSpPr>
            <a:spLocks noGrp="1"/>
          </p:cNvSpPr>
          <p:nvPr>
            <p:ph type="sldNum" sz="quarter" idx="5"/>
          </p:nvPr>
        </p:nvSpPr>
        <p:spPr/>
        <p:txBody>
          <a:bodyPr/>
          <a:lstStyle/>
          <a:p>
            <a:pPr>
              <a:defRPr/>
            </a:pPr>
            <a:fld id="{BD9E290E-B897-4C81-8DB9-5E218080C6B9}" type="slidenum">
              <a:rPr lang="zh-CN" altLang="en-US" smtClean="0"/>
              <a:t>11</a:t>
            </a:fld>
            <a:endParaRPr lang="zh-CN" altLang="en-US"/>
          </a:p>
        </p:txBody>
      </p:sp>
    </p:spTree>
    <p:extLst>
      <p:ext uri="{BB962C8B-B14F-4D97-AF65-F5344CB8AC3E}">
        <p14:creationId xmlns:p14="http://schemas.microsoft.com/office/powerpoint/2010/main" val="2545046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针对上述问题，我将详细介绍本研究拟采用的研究方法。</a:t>
            </a:r>
          </a:p>
        </p:txBody>
      </p:sp>
      <p:sp>
        <p:nvSpPr>
          <p:cNvPr id="4" name="灯片编号占位符 3">
            <a:extLst>
              <a:ext uri="{FF2B5EF4-FFF2-40B4-BE49-F238E27FC236}">
                <a16:creationId xmlns:a16="http://schemas.microsoft.com/office/drawing/2014/main" id="{47B676C0-1942-5D47-9439-B65E5BD82179}"/>
              </a:ext>
            </a:extLst>
          </p:cNvPr>
          <p:cNvSpPr>
            <a:spLocks noGrp="1"/>
          </p:cNvSpPr>
          <p:nvPr>
            <p:ph type="sldNum" sz="quarter" idx="5"/>
          </p:nvPr>
        </p:nvSpPr>
        <p:spPr/>
        <p:txBody>
          <a:bodyPr/>
          <a:lstStyle/>
          <a:p>
            <a:pPr>
              <a:defRPr/>
            </a:pPr>
            <a:fld id="{BD9E290E-B897-4C81-8DB9-5E218080C6B9}" type="slidenum">
              <a:rPr lang="zh-CN" altLang="en-US" smtClean="0"/>
              <a:t>12</a:t>
            </a:fld>
            <a:endParaRPr lang="zh-CN" altLang="en-US"/>
          </a:p>
        </p:txBody>
      </p:sp>
      <p:sp>
        <p:nvSpPr>
          <p:cNvPr id="5" name="日期占位符 4">
            <a:extLst>
              <a:ext uri="{FF2B5EF4-FFF2-40B4-BE49-F238E27FC236}">
                <a16:creationId xmlns:a16="http://schemas.microsoft.com/office/drawing/2014/main" id="{A2A54D11-3122-3846-81E9-07AE21F2F2A7}"/>
              </a:ext>
            </a:extLst>
          </p:cNvPr>
          <p:cNvSpPr>
            <a:spLocks noGrp="1"/>
          </p:cNvSpPr>
          <p:nvPr>
            <p:ph type="dt" idx="1"/>
          </p:nvPr>
        </p:nvSpPr>
        <p:spPr/>
        <p:txBody>
          <a:bodyPr/>
          <a:lstStyle/>
          <a:p>
            <a:pPr>
              <a:defRPr/>
            </a:pPr>
            <a:fld id="{4DCFBD6E-8752-411D-861B-B179E1EDE9B4}"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06FC0901-6F31-104F-B252-6CE40F1FA923}"/>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19339415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本研究的核心目标是充分利用</a:t>
            </a:r>
            <a:r>
              <a:rPr lang="en-US" altLang="zh-CN" dirty="0"/>
              <a:t>SFT</a:t>
            </a:r>
            <a:r>
              <a:rPr lang="zh-CN" altLang="en-US" dirty="0"/>
              <a:t>数据集的内在属性，通过深入挖掘难样本并结合创新的数据增强策略来显著提升微调效果。</a:t>
            </a:r>
            <a:r>
              <a:rPr lang="en-US" altLang="zh-CN" dirty="0"/>
              <a:t>\</a:t>
            </a:r>
          </a:p>
          <a:p>
            <a:endParaRPr lang="en-US" altLang="zh-CN" dirty="0"/>
          </a:p>
          <a:p>
            <a:r>
              <a:rPr lang="zh-CN" altLang="en-US" dirty="0"/>
              <a:t>具体而言，我们将针对当前面临的四个主要问题提出相应的解决方案：</a:t>
            </a:r>
            <a:endParaRPr lang="en-US" altLang="zh-CN" dirty="0"/>
          </a:p>
          <a:p>
            <a:endParaRPr lang="en-US" altLang="zh-CN" dirty="0"/>
          </a:p>
          <a:p>
            <a:r>
              <a:rPr lang="zh-CN" altLang="en-US" dirty="0"/>
              <a:t>首先，针对数据成本高昂的问题 ，我们将通过对现有数据进行自动评估并优化训练顺序，以此提升数据的利用价值，从而间接降低对海量高质量新数据的需求；</a:t>
            </a:r>
            <a:endParaRPr lang="en-US" altLang="zh-CN" dirty="0"/>
          </a:p>
          <a:p>
            <a:endParaRPr lang="en-US" altLang="zh-CN" dirty="0"/>
          </a:p>
          <a:p>
            <a:r>
              <a:rPr lang="zh-CN" altLang="en-US" dirty="0"/>
              <a:t>同时，我们计划自动化生成“反向指令</a:t>
            </a:r>
            <a:r>
              <a:rPr lang="en-US" altLang="zh-CN" dirty="0"/>
              <a:t>-</a:t>
            </a:r>
            <a:r>
              <a:rPr lang="zh-CN" altLang="en-US" dirty="0"/>
              <a:t>响应对”，以一种低成本的方式扩充训练数据，这将有助于提升模型的逆向思维能力。</a:t>
            </a:r>
            <a:endParaRPr lang="en-US" altLang="zh-CN" dirty="0"/>
          </a:p>
          <a:p>
            <a:endParaRPr lang="en-US" altLang="zh-CN" dirty="0"/>
          </a:p>
          <a:p>
            <a:r>
              <a:rPr lang="zh-CN" altLang="en-US" dirty="0"/>
              <a:t>其次，针对数据利用率不足的问题 ，我们将引入奖励模型对原始</a:t>
            </a:r>
            <a:r>
              <a:rPr lang="en-US" altLang="zh-CN" dirty="0"/>
              <a:t>SFT</a:t>
            </a:r>
            <a:r>
              <a:rPr lang="zh-CN" altLang="en-US" dirty="0"/>
              <a:t>数据以及原始模型对相同指令生成的响应进行评分，并计算两者的分数差异</a:t>
            </a:r>
            <a:r>
              <a:rPr lang="en-US" altLang="zh-CN" dirty="0"/>
              <a:t>$\Delta </a:t>
            </a:r>
            <a:r>
              <a:rPr lang="en-US" altLang="zh-CN" dirty="0" err="1"/>
              <a:t>S_i</a:t>
            </a:r>
            <a:r>
              <a:rPr lang="en-US" altLang="zh-CN" dirty="0"/>
              <a:t>$</a:t>
            </a:r>
            <a:r>
              <a:rPr lang="zh-CN" altLang="en-US" dirty="0"/>
              <a:t>，分数差异越大，意味着</a:t>
            </a:r>
            <a:r>
              <a:rPr lang="en-US" altLang="zh-CN" dirty="0"/>
              <a:t>LLM</a:t>
            </a:r>
            <a:r>
              <a:rPr lang="zh-CN" altLang="en-US" dirty="0"/>
              <a:t>的对齐差距越大，该样本的难度也就越高，我们将根据这个对齐差距，将难样本策略性地置于训练后期，以减少模型对困难样本的遗忘。</a:t>
            </a:r>
            <a:endParaRPr lang="en-US" altLang="zh-CN" dirty="0"/>
          </a:p>
          <a:p>
            <a:endParaRPr lang="en-US" altLang="zh-CN" dirty="0"/>
          </a:p>
          <a:p>
            <a:r>
              <a:rPr lang="zh-CN" altLang="en-US" dirty="0"/>
              <a:t>第三，针对模型过拟合与欠拟合的问题 ，我们将通过动态调整每个样本的训练轮次，确保难样本获得充分的学习机会，同时避免对简单样本的过度训练，从而全面提升模型的泛化能力。</a:t>
            </a:r>
            <a:endParaRPr lang="en-US" altLang="zh-CN" dirty="0"/>
          </a:p>
          <a:p>
            <a:endParaRPr lang="en-US" altLang="zh-CN" dirty="0"/>
          </a:p>
          <a:p>
            <a:r>
              <a:rPr lang="zh-CN" altLang="en-US" dirty="0"/>
              <a:t>最后，针对缺乏对数据内在属性充分利用的问题 ，我们将利用奖励模型对样本进行细粒度评分，这将使我们能够更精确地识别和利用难样本的内在属性，例如其难度和对齐差距，而不是简单地将其过滤或丢弃。</a:t>
            </a:r>
          </a:p>
        </p:txBody>
      </p:sp>
      <p:sp>
        <p:nvSpPr>
          <p:cNvPr id="4" name="日期占位符 3"/>
          <p:cNvSpPr>
            <a:spLocks noGrp="1"/>
          </p:cNvSpPr>
          <p:nvPr>
            <p:ph type="dt" idx="1"/>
          </p:nvPr>
        </p:nvSpPr>
        <p:spPr/>
        <p:txBody>
          <a:bodyPr/>
          <a:lstStyle/>
          <a:p>
            <a:pPr>
              <a:defRPr/>
            </a:pPr>
            <a:fld id="{B2C0523D-71EE-4ECE-B037-A18FB4E20D8C}" type="datetime1">
              <a:rPr lang="zh-CN" altLang="en-US" smtClean="0"/>
              <a:t>2025/7/30/Wed</a:t>
            </a:fld>
            <a:endParaRPr lang="zh-CN" altLang="en-US"/>
          </a:p>
        </p:txBody>
      </p:sp>
      <p:sp>
        <p:nvSpPr>
          <p:cNvPr id="5" name="页脚占位符 4"/>
          <p:cNvSpPr>
            <a:spLocks noGrp="1"/>
          </p:cNvSpPr>
          <p:nvPr>
            <p:ph type="ftr" sz="quarter" idx="4"/>
          </p:nvPr>
        </p:nvSpPr>
        <p:spPr/>
        <p:txBody>
          <a:bodyPr/>
          <a:lstStyle/>
          <a:p>
            <a:pPr>
              <a:defRPr/>
            </a:pPr>
            <a:endParaRPr lang="zh-CN" altLang="en-US"/>
          </a:p>
        </p:txBody>
      </p:sp>
      <p:sp>
        <p:nvSpPr>
          <p:cNvPr id="6" name="灯片编号占位符 5"/>
          <p:cNvSpPr>
            <a:spLocks noGrp="1"/>
          </p:cNvSpPr>
          <p:nvPr>
            <p:ph type="sldNum" sz="quarter" idx="5"/>
          </p:nvPr>
        </p:nvSpPr>
        <p:spPr/>
        <p:txBody>
          <a:bodyPr/>
          <a:lstStyle/>
          <a:p>
            <a:pPr>
              <a:defRPr/>
            </a:pPr>
            <a:fld id="{BD9E290E-B897-4C81-8DB9-5E218080C6B9}" type="slidenum">
              <a:rPr lang="zh-CN" altLang="en-US" smtClean="0"/>
              <a:t>13</a:t>
            </a:fld>
            <a:endParaRPr lang="zh-CN" altLang="en-US"/>
          </a:p>
        </p:txBody>
      </p:sp>
    </p:spTree>
    <p:extLst>
      <p:ext uri="{BB962C8B-B14F-4D97-AF65-F5344CB8AC3E}">
        <p14:creationId xmlns:p14="http://schemas.microsoft.com/office/powerpoint/2010/main" val="866953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接下来，我将向大家详细阐述本研究的整体计划。</a:t>
            </a:r>
            <a:endParaRPr lang="en-US" altLang="zh-CN" dirty="0"/>
          </a:p>
          <a:p>
            <a:endParaRPr lang="en-US" altLang="zh-CN" dirty="0"/>
          </a:p>
          <a:p>
            <a:r>
              <a:rPr lang="zh-CN" altLang="en-US" dirty="0"/>
              <a:t>我的研究计划将分为四个清晰的阶段。</a:t>
            </a:r>
            <a:endParaRPr lang="en-US" altLang="zh-CN" dirty="0"/>
          </a:p>
          <a:p>
            <a:endParaRPr lang="en-US" altLang="zh-CN" dirty="0"/>
          </a:p>
          <a:p>
            <a:r>
              <a:rPr lang="zh-CN" altLang="en-US" dirty="0"/>
              <a:t>第一阶段是理论准备（</a:t>
            </a:r>
            <a:r>
              <a:rPr lang="en-US" altLang="zh-CN" dirty="0"/>
              <a:t>2025</a:t>
            </a:r>
            <a:r>
              <a:rPr lang="zh-CN" altLang="en-US" dirty="0"/>
              <a:t>年</a:t>
            </a:r>
            <a:r>
              <a:rPr lang="en-US" altLang="zh-CN" dirty="0"/>
              <a:t>9</a:t>
            </a:r>
            <a:r>
              <a:rPr lang="zh-CN" altLang="en-US" dirty="0"/>
              <a:t>月至</a:t>
            </a:r>
            <a:r>
              <a:rPr lang="en-US" altLang="zh-CN" dirty="0"/>
              <a:t>2025</a:t>
            </a:r>
            <a:r>
              <a:rPr lang="zh-CN" altLang="en-US" dirty="0"/>
              <a:t>年</a:t>
            </a:r>
            <a:r>
              <a:rPr lang="en-US" altLang="zh-CN" dirty="0"/>
              <a:t>12</a:t>
            </a:r>
            <a:r>
              <a:rPr lang="zh-CN" altLang="en-US" dirty="0"/>
              <a:t>月），在此阶段，我将投入大量时间深入阅读相关文献，全面学习大语言模型参数微调与数据优化算法的核心思想，为后续的实践工作打下坚实的理论基础 。</a:t>
            </a:r>
            <a:endParaRPr lang="en-US" altLang="zh-CN" dirty="0"/>
          </a:p>
          <a:p>
            <a:endParaRPr lang="en-US" altLang="zh-CN" dirty="0"/>
          </a:p>
          <a:p>
            <a:r>
              <a:rPr lang="zh-CN" altLang="en-US" dirty="0"/>
              <a:t>第二阶段是数据收集（</a:t>
            </a:r>
            <a:r>
              <a:rPr lang="en-US" altLang="zh-CN" dirty="0"/>
              <a:t>2026</a:t>
            </a:r>
            <a:r>
              <a:rPr lang="zh-CN" altLang="en-US" dirty="0"/>
              <a:t>年</a:t>
            </a:r>
            <a:r>
              <a:rPr lang="en-US" altLang="zh-CN" dirty="0"/>
              <a:t>1</a:t>
            </a:r>
            <a:r>
              <a:rPr lang="zh-CN" altLang="en-US" dirty="0"/>
              <a:t>月至</a:t>
            </a:r>
            <a:r>
              <a:rPr lang="en-US" altLang="zh-CN" dirty="0"/>
              <a:t>2026</a:t>
            </a:r>
            <a:r>
              <a:rPr lang="zh-CN" altLang="en-US" dirty="0"/>
              <a:t>年</a:t>
            </a:r>
            <a:r>
              <a:rPr lang="en-US" altLang="zh-CN" dirty="0"/>
              <a:t>2</a:t>
            </a:r>
            <a:r>
              <a:rPr lang="zh-CN" altLang="en-US" dirty="0"/>
              <a:t>月），主要任务是调研并准备常用的训练数据集，并根据本研究的具体需求进行必要的数据增强和预处理 。</a:t>
            </a:r>
            <a:endParaRPr lang="en-US" altLang="zh-CN" dirty="0"/>
          </a:p>
          <a:p>
            <a:endParaRPr lang="en-US" altLang="zh-CN" dirty="0"/>
          </a:p>
          <a:p>
            <a:r>
              <a:rPr lang="zh-CN" altLang="en-US" dirty="0"/>
              <a:t>第三阶段是模型构建和实验阶段（</a:t>
            </a:r>
            <a:r>
              <a:rPr lang="en-US" altLang="zh-CN" dirty="0"/>
              <a:t>2026</a:t>
            </a:r>
            <a:r>
              <a:rPr lang="zh-CN" altLang="en-US" dirty="0"/>
              <a:t>年</a:t>
            </a:r>
            <a:r>
              <a:rPr lang="en-US" altLang="zh-CN" dirty="0"/>
              <a:t>2</a:t>
            </a:r>
            <a:r>
              <a:rPr lang="zh-CN" altLang="en-US" dirty="0"/>
              <a:t>月至</a:t>
            </a:r>
            <a:r>
              <a:rPr lang="en-US" altLang="zh-CN" dirty="0"/>
              <a:t>2026</a:t>
            </a:r>
            <a:r>
              <a:rPr lang="zh-CN" altLang="en-US" dirty="0"/>
              <a:t>年</a:t>
            </a:r>
            <a:r>
              <a:rPr lang="en-US" altLang="zh-CN" dirty="0"/>
              <a:t>6</a:t>
            </a:r>
            <a:r>
              <a:rPr lang="zh-CN" altLang="en-US" dirty="0"/>
              <a:t>月），这是研究的核心实践部分，我将设计并实现大语言模型参数微调数据优化算法，进行细致的模型训练与测试，并与现有工作进行严格的对比分析，以验证我所提出方法的有效性 。</a:t>
            </a:r>
            <a:endParaRPr lang="en-US" altLang="zh-CN" dirty="0"/>
          </a:p>
          <a:p>
            <a:endParaRPr lang="en-US" altLang="zh-CN" dirty="0"/>
          </a:p>
          <a:p>
            <a:r>
              <a:rPr lang="zh-CN" altLang="en-US" dirty="0"/>
              <a:t>最后一个阶段是撰写论文（</a:t>
            </a:r>
            <a:r>
              <a:rPr lang="en-US" altLang="zh-CN" dirty="0"/>
              <a:t>2026</a:t>
            </a:r>
            <a:r>
              <a:rPr lang="zh-CN" altLang="en-US" dirty="0"/>
              <a:t>年</a:t>
            </a:r>
            <a:r>
              <a:rPr lang="en-US" altLang="zh-CN" dirty="0"/>
              <a:t>7</a:t>
            </a:r>
            <a:r>
              <a:rPr lang="zh-CN" altLang="en-US" dirty="0"/>
              <a:t>月至</a:t>
            </a:r>
            <a:r>
              <a:rPr lang="en-US" altLang="zh-CN" dirty="0"/>
              <a:t>2026</a:t>
            </a:r>
            <a:r>
              <a:rPr lang="zh-CN" altLang="en-US" dirty="0"/>
              <a:t>年</a:t>
            </a:r>
            <a:r>
              <a:rPr lang="en-US" altLang="zh-CN" dirty="0"/>
              <a:t>12</a:t>
            </a:r>
            <a:r>
              <a:rPr lang="zh-CN" altLang="en-US" dirty="0"/>
              <a:t>月），我将根据前期实验的结果，系统整理并撰写我的毕业论文 。</a:t>
            </a:r>
          </a:p>
        </p:txBody>
      </p:sp>
      <p:sp>
        <p:nvSpPr>
          <p:cNvPr id="4" name="灯片编号占位符 3">
            <a:extLst>
              <a:ext uri="{FF2B5EF4-FFF2-40B4-BE49-F238E27FC236}">
                <a16:creationId xmlns:a16="http://schemas.microsoft.com/office/drawing/2014/main" id="{FEAC4806-250D-D849-8C3C-16AB1E5A92DF}"/>
              </a:ext>
            </a:extLst>
          </p:cNvPr>
          <p:cNvSpPr>
            <a:spLocks noGrp="1"/>
          </p:cNvSpPr>
          <p:nvPr>
            <p:ph type="sldNum" sz="quarter" idx="5"/>
          </p:nvPr>
        </p:nvSpPr>
        <p:spPr/>
        <p:txBody>
          <a:bodyPr/>
          <a:lstStyle/>
          <a:p>
            <a:pPr>
              <a:defRPr/>
            </a:pPr>
            <a:fld id="{BD9E290E-B897-4C81-8DB9-5E218080C6B9}" type="slidenum">
              <a:rPr lang="zh-CN" altLang="en-US" smtClean="0"/>
              <a:t>14</a:t>
            </a:fld>
            <a:endParaRPr lang="zh-CN" altLang="en-US"/>
          </a:p>
        </p:txBody>
      </p:sp>
      <p:sp>
        <p:nvSpPr>
          <p:cNvPr id="5" name="日期占位符 4">
            <a:extLst>
              <a:ext uri="{FF2B5EF4-FFF2-40B4-BE49-F238E27FC236}">
                <a16:creationId xmlns:a16="http://schemas.microsoft.com/office/drawing/2014/main" id="{3339A986-15A2-BA47-BC0C-BE8C9ED8C09F}"/>
              </a:ext>
            </a:extLst>
          </p:cNvPr>
          <p:cNvSpPr>
            <a:spLocks noGrp="1"/>
          </p:cNvSpPr>
          <p:nvPr>
            <p:ph type="dt" idx="1"/>
          </p:nvPr>
        </p:nvSpPr>
        <p:spPr/>
        <p:txBody>
          <a:bodyPr/>
          <a:lstStyle/>
          <a:p>
            <a:pPr>
              <a:defRPr/>
            </a:pPr>
            <a:fld id="{6DC544CE-7784-4370-9CCB-25AF563FDF47}"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B944029E-A09C-5D40-BBBA-14EF968650E7}"/>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2801657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非常感谢各位老师和同学的耐心聆听。我对本次汇报的内容已经介绍完毕，现在我诚挚地欢迎大家提出宝贵的意见和建议，请批评指正。</a:t>
            </a:r>
          </a:p>
        </p:txBody>
      </p:sp>
      <p:sp>
        <p:nvSpPr>
          <p:cNvPr id="4" name="灯片编号占位符 3">
            <a:extLst>
              <a:ext uri="{FF2B5EF4-FFF2-40B4-BE49-F238E27FC236}">
                <a16:creationId xmlns:a16="http://schemas.microsoft.com/office/drawing/2014/main" id="{6FA65B37-8801-B940-8D78-34F9C9508D70}"/>
              </a:ext>
            </a:extLst>
          </p:cNvPr>
          <p:cNvSpPr>
            <a:spLocks noGrp="1"/>
          </p:cNvSpPr>
          <p:nvPr>
            <p:ph type="sldNum" sz="quarter" idx="5"/>
          </p:nvPr>
        </p:nvSpPr>
        <p:spPr/>
        <p:txBody>
          <a:bodyPr/>
          <a:lstStyle/>
          <a:p>
            <a:pPr>
              <a:defRPr/>
            </a:pPr>
            <a:fld id="{BD9E290E-B897-4C81-8DB9-5E218080C6B9}" type="slidenum">
              <a:rPr lang="zh-CN" altLang="en-US" smtClean="0"/>
              <a:t>15</a:t>
            </a:fld>
            <a:endParaRPr lang="zh-CN" altLang="en-US"/>
          </a:p>
        </p:txBody>
      </p:sp>
      <p:sp>
        <p:nvSpPr>
          <p:cNvPr id="5" name="日期占位符 4">
            <a:extLst>
              <a:ext uri="{FF2B5EF4-FFF2-40B4-BE49-F238E27FC236}">
                <a16:creationId xmlns:a16="http://schemas.microsoft.com/office/drawing/2014/main" id="{624996AB-F9DB-3045-9664-9F4EB1C0B86D}"/>
              </a:ext>
            </a:extLst>
          </p:cNvPr>
          <p:cNvSpPr>
            <a:spLocks noGrp="1"/>
          </p:cNvSpPr>
          <p:nvPr>
            <p:ph type="dt" idx="1"/>
          </p:nvPr>
        </p:nvSpPr>
        <p:spPr/>
        <p:txBody>
          <a:bodyPr/>
          <a:lstStyle/>
          <a:p>
            <a:pPr>
              <a:defRPr/>
            </a:pPr>
            <a:fld id="{B5FDAF1F-4147-46E7-810C-F98842830C24}" type="datetime1">
              <a:rPr lang="zh-CN" altLang="en-US" smtClean="0"/>
              <a:t>2025/7/30/Wed</a:t>
            </a:fld>
            <a:endParaRPr lang="zh-CN" altLang="en-US"/>
          </a:p>
        </p:txBody>
      </p:sp>
      <p:sp>
        <p:nvSpPr>
          <p:cNvPr id="6" name="页脚占位符 5">
            <a:extLst>
              <a:ext uri="{FF2B5EF4-FFF2-40B4-BE49-F238E27FC236}">
                <a16:creationId xmlns:a16="http://schemas.microsoft.com/office/drawing/2014/main" id="{24F0A1FD-6377-4F4B-B3E7-D3B13BF55609}"/>
              </a:ext>
            </a:extLst>
          </p:cNvPr>
          <p:cNvSpPr>
            <a:spLocks noGrp="1"/>
          </p:cNvSpPr>
          <p:nvPr>
            <p:ph type="ftr" sz="quarter" idx="4"/>
          </p:nvPr>
        </p:nvSpPr>
        <p:spPr/>
        <p:txBody>
          <a:bodyPr/>
          <a:lstStyle/>
          <a:p>
            <a:pPr>
              <a:defRPr/>
            </a:pPr>
            <a:endParaRPr lang="zh-CN" altLang="en-US"/>
          </a:p>
        </p:txBody>
      </p:sp>
    </p:spTree>
    <p:extLst>
      <p:ext uri="{BB962C8B-B14F-4D97-AF65-F5344CB8AC3E}">
        <p14:creationId xmlns:p14="http://schemas.microsoft.com/office/powerpoint/2010/main" val="29285874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图片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50" y="0"/>
            <a:ext cx="12196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6350" y="0"/>
            <a:ext cx="12198350" cy="6873875"/>
          </a:xfrm>
          <a:prstGeom prst="rect">
            <a:avLst/>
          </a:prstGeom>
          <a:gradFill flip="none" rotWithShape="1">
            <a:gsLst>
              <a:gs pos="0">
                <a:schemeClr val="bg1"/>
              </a:gs>
              <a:gs pos="100000">
                <a:schemeClr val="bg1">
                  <a:shade val="100000"/>
                  <a:satMod val="11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49" charset="-122"/>
            </a:endParaRPr>
          </a:p>
        </p:txBody>
      </p:sp>
      <p:sp>
        <p:nvSpPr>
          <p:cNvPr id="3" name="KSO_CT2"/>
          <p:cNvSpPr>
            <a:spLocks noGrp="1"/>
          </p:cNvSpPr>
          <p:nvPr>
            <p:ph type="subTitle" idx="1"/>
          </p:nvPr>
        </p:nvSpPr>
        <p:spPr>
          <a:xfrm>
            <a:off x="3732731" y="3010158"/>
            <a:ext cx="4726539" cy="380743"/>
          </a:xfrm>
          <a:prstGeom prst="roundRect">
            <a:avLst>
              <a:gd name="adj" fmla="val 50000"/>
            </a:avLst>
          </a:prstGeom>
          <a:noFill/>
          <a:ln w="19050">
            <a:solidFill>
              <a:schemeClr val="accent2">
                <a:lumMod val="60000"/>
                <a:lumOff val="40000"/>
              </a:schemeClr>
            </a:solidFill>
          </a:ln>
        </p:spPr>
        <p:txBody>
          <a:bodyPr anchor="ctr">
            <a:noAutofit/>
          </a:bodyPr>
          <a:lstStyle>
            <a:lvl1pPr marL="0" indent="0" algn="ctr">
              <a:buNone/>
              <a:defRPr sz="1800" baseline="0">
                <a:solidFill>
                  <a:schemeClr val="accent2"/>
                </a:solidFill>
                <a:latin typeface="Arial" panose="020B0604020202020204" pitchFamily="34" charset="0"/>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7" name="KSO_CT1"/>
          <p:cNvSpPr>
            <a:spLocks noGrp="1"/>
          </p:cNvSpPr>
          <p:nvPr>
            <p:ph type="title"/>
          </p:nvPr>
        </p:nvSpPr>
        <p:spPr>
          <a:xfrm>
            <a:off x="908521" y="2085976"/>
            <a:ext cx="10374961" cy="866415"/>
          </a:xfrm>
        </p:spPr>
        <p:txBody>
          <a:bodyPr>
            <a:noAutofit/>
          </a:bodyPr>
          <a:lstStyle>
            <a:lvl1pPr algn="ctr">
              <a:defRPr sz="4400" baseline="0">
                <a:gradFill flip="none" rotWithShape="1">
                  <a:gsLst>
                    <a:gs pos="0">
                      <a:schemeClr val="accent1"/>
                    </a:gs>
                    <a:gs pos="50000">
                      <a:schemeClr val="accent2">
                        <a:lumMod val="7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defRPr>
            </a:lvl1pPr>
          </a:lstStyle>
          <a:p>
            <a:r>
              <a:rPr lang="zh-CN" altLang="en-US"/>
              <a:t>单击此处编辑母版标题样式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a:xfrm>
            <a:off x="584200" y="273050"/>
            <a:ext cx="11029950" cy="698400"/>
          </a:xfrm>
        </p:spPr>
        <p:txBody>
          <a:bodyPr/>
          <a:lstStyle/>
          <a:p>
            <a:r>
              <a:rPr lang="zh-CN" altLang="en-US"/>
              <a:t>单击此处编辑母版标题样式</a:t>
            </a:r>
            <a:endParaRPr lang="en-US" dirty="0"/>
          </a:p>
        </p:txBody>
      </p:sp>
      <p:sp>
        <p:nvSpPr>
          <p:cNvPr id="3" name="KSO_BC1"/>
          <p:cNvSpPr>
            <a:spLocks noGrp="1"/>
          </p:cNvSpPr>
          <p:nvPr>
            <p:ph idx="1"/>
          </p:nvPr>
        </p:nvSpPr>
        <p:spPr/>
        <p:txBody>
          <a:bodyPr>
            <a:normAutofit/>
          </a:bodyPr>
          <a:lstStyle>
            <a:lvl1pPr>
              <a:defRPr sz="2400">
                <a:solidFill>
                  <a:schemeClr val="tx1"/>
                </a:solidFill>
              </a:defRPr>
            </a:lvl1pPr>
            <a:lvl2pPr>
              <a:defRPr>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4104000" y="2613600"/>
            <a:ext cx="5446800" cy="1184400"/>
          </a:xfrm>
          <a:solidFill>
            <a:schemeClr val="accent3"/>
          </a:solidFill>
          <a:ln>
            <a:noFill/>
          </a:ln>
        </p:spPr>
        <p:txBody>
          <a:bodyPr anchor="ctr" anchorCtr="0">
            <a:normAutofit/>
          </a:bodyPr>
          <a:lstStyle>
            <a:lvl1pPr algn="ctr">
              <a:defRPr sz="3600">
                <a:solidFill>
                  <a:schemeClr val="bg1"/>
                </a:solidFill>
              </a:defRPr>
            </a:lvl1pPr>
          </a:lstStyle>
          <a:p>
            <a:r>
              <a:rPr lang="zh-CN" altLang="en-US" dirty="0"/>
              <a:t>编辑母版标题样式</a:t>
            </a:r>
            <a:endParaRPr lang="en-US" dirty="0"/>
          </a:p>
        </p:txBody>
      </p:sp>
      <p:sp>
        <p:nvSpPr>
          <p:cNvPr id="3" name="KSO_ST2"/>
          <p:cNvSpPr>
            <a:spLocks noGrp="1"/>
          </p:cNvSpPr>
          <p:nvPr>
            <p:ph type="body" idx="1"/>
          </p:nvPr>
        </p:nvSpPr>
        <p:spPr>
          <a:xfrm>
            <a:off x="4579499" y="3798000"/>
            <a:ext cx="4495801" cy="373878"/>
          </a:xfrm>
          <a:prstGeom prst="roundRect">
            <a:avLst>
              <a:gd name="adj" fmla="val 50000"/>
            </a:avLst>
          </a:prstGeom>
          <a:ln w="19050">
            <a:solidFill>
              <a:schemeClr val="accent2">
                <a:lumMod val="60000"/>
                <a:lumOff val="40000"/>
              </a:schemeClr>
            </a:solidFill>
          </a:ln>
        </p:spPr>
        <p:txBody>
          <a:bodyPr anchor="ctr">
            <a:normAutofit/>
          </a:bodyPr>
          <a:lstStyle>
            <a:lvl1pPr marL="0" indent="0" algn="ctr">
              <a:buNone/>
              <a:defRPr sz="16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cxnSp>
        <p:nvCxnSpPr>
          <p:cNvPr id="7" name="MH_Others_1"/>
          <p:cNvCxnSpPr/>
          <p:nvPr userDrawn="1">
            <p:custDataLst>
              <p:tags r:id="rId1"/>
            </p:custDataLst>
          </p:nvPr>
        </p:nvCxnSpPr>
        <p:spPr>
          <a:xfrm>
            <a:off x="4095750" y="705436"/>
            <a:ext cx="0" cy="5002304"/>
          </a:xfrm>
          <a:prstGeom prst="line">
            <a:avLst/>
          </a:prstGeom>
          <a:ln w="22225">
            <a:gradFill>
              <a:gsLst>
                <a:gs pos="0">
                  <a:schemeClr val="accent1">
                    <a:lumMod val="5000"/>
                    <a:lumOff val="95000"/>
                    <a:alpha val="0"/>
                  </a:schemeClr>
                </a:gs>
                <a:gs pos="50000">
                  <a:schemeClr val="accent3"/>
                </a:gs>
                <a:gs pos="100000">
                  <a:srgbClr val="FFFFFF">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583200" y="1428025"/>
            <a:ext cx="5219084" cy="4873022"/>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KSO_BC2"/>
          <p:cNvSpPr>
            <a:spLocks noGrp="1"/>
          </p:cNvSpPr>
          <p:nvPr>
            <p:ph sz="half" idx="2"/>
          </p:nvPr>
        </p:nvSpPr>
        <p:spPr>
          <a:xfrm>
            <a:off x="6395066" y="1428025"/>
            <a:ext cx="5219084" cy="4873022"/>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583200" y="273600"/>
            <a:ext cx="11030400" cy="698400"/>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583200" y="1376362"/>
            <a:ext cx="5157787" cy="823912"/>
          </a:xfrm>
        </p:spPr>
        <p:txBody>
          <a:bodyPr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583200" y="2200274"/>
            <a:ext cx="5157787" cy="3684588"/>
          </a:xfrm>
        </p:spPr>
        <p:txBody>
          <a:bodyPr/>
          <a:lstStyle>
            <a:lvl1pPr>
              <a:defRPr sz="2400">
                <a:solidFill>
                  <a:schemeClr val="tx1"/>
                </a:solidFill>
              </a:defRPr>
            </a:lvl1pPr>
            <a:lvl2pPr>
              <a:defRPr>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lvl1pPr>
              <a:defRPr sz="2400">
                <a:solidFill>
                  <a:schemeClr val="tx1"/>
                </a:solidFill>
              </a:defRPr>
            </a:lvl1pPr>
            <a:lvl2pPr>
              <a:defRPr>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椭圆 5"/>
          <p:cNvSpPr/>
          <p:nvPr userDrawn="1"/>
        </p:nvSpPr>
        <p:spPr>
          <a:xfrm>
            <a:off x="3757614" y="2936875"/>
            <a:ext cx="2312987" cy="2311400"/>
          </a:xfrm>
          <a:prstGeom prst="ellipse">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p>
        </p:txBody>
      </p:sp>
      <p:sp>
        <p:nvSpPr>
          <p:cNvPr id="7" name="椭圆 6"/>
          <p:cNvSpPr/>
          <p:nvPr userDrawn="1"/>
        </p:nvSpPr>
        <p:spPr>
          <a:xfrm>
            <a:off x="6680201" y="3906839"/>
            <a:ext cx="1317625" cy="1317625"/>
          </a:xfrm>
          <a:prstGeom prst="ellipse">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p>
        </p:txBody>
      </p:sp>
      <p:sp>
        <p:nvSpPr>
          <p:cNvPr id="8" name="椭圆 7"/>
          <p:cNvSpPr/>
          <p:nvPr userDrawn="1"/>
        </p:nvSpPr>
        <p:spPr>
          <a:xfrm>
            <a:off x="7348538" y="3624263"/>
            <a:ext cx="887412" cy="889000"/>
          </a:xfrm>
          <a:prstGeom prst="ellipse">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p>
        </p:txBody>
      </p:sp>
      <p:sp>
        <p:nvSpPr>
          <p:cNvPr id="9" name="椭圆 8"/>
          <p:cNvSpPr/>
          <p:nvPr userDrawn="1"/>
        </p:nvSpPr>
        <p:spPr>
          <a:xfrm>
            <a:off x="4079875" y="1268414"/>
            <a:ext cx="4052888" cy="4052887"/>
          </a:xfrm>
          <a:prstGeom prst="ellipse">
            <a:avLst/>
          </a:prstGeom>
          <a:solidFill>
            <a:schemeClr val="accent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endParaRPr lang="en-US" altLang="zh-CN" sz="4800"/>
          </a:p>
        </p:txBody>
      </p:sp>
      <p:sp>
        <p:nvSpPr>
          <p:cNvPr id="2" name="KSO_BT1"/>
          <p:cNvSpPr>
            <a:spLocks noGrp="1"/>
          </p:cNvSpPr>
          <p:nvPr>
            <p:ph type="title" hasCustomPrompt="1"/>
          </p:nvPr>
        </p:nvSpPr>
        <p:spPr>
          <a:xfrm>
            <a:off x="4510800" y="2289600"/>
            <a:ext cx="3132000" cy="1728000"/>
          </a:xfrm>
        </p:spPr>
        <p:txBody>
          <a:bodyPr anchor="ctr" anchorCtr="0">
            <a:normAutofit/>
          </a:bodyPr>
          <a:lstStyle>
            <a:lvl1pPr algn="ctr">
              <a:defRPr sz="5600">
                <a:solidFill>
                  <a:schemeClr val="bg1"/>
                </a:solidFill>
              </a:defRPr>
            </a:lvl1pPr>
          </a:lstStyle>
          <a:p>
            <a:r>
              <a:rPr lang="zh-CN" altLang="en-US" dirty="0"/>
              <a:t>编辑标题</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hasCustomPrompt="1"/>
          </p:nvPr>
        </p:nvSpPr>
        <p:spPr>
          <a:xfrm>
            <a:off x="583200" y="586800"/>
            <a:ext cx="11030400" cy="698400"/>
          </a:xfrm>
        </p:spPr>
        <p:txBody>
          <a:bodyPr/>
          <a:lstStyle>
            <a:lvl1pPr algn="ctr">
              <a:defRPr sz="3200"/>
            </a:lvl1pPr>
          </a:lstStyle>
          <a:p>
            <a:r>
              <a:rPr lang="zh-CN" altLang="en-US" dirty="0"/>
              <a:t>单击此处编辑母版标题样式 </a:t>
            </a:r>
            <a:endParaRPr lang="en-US" dirty="0"/>
          </a:p>
        </p:txBody>
      </p:sp>
      <p:sp>
        <p:nvSpPr>
          <p:cNvPr id="3" name="KSO_BC1"/>
          <p:cNvSpPr>
            <a:spLocks noGrp="1"/>
          </p:cNvSpPr>
          <p:nvPr>
            <p:ph type="pic" idx="1"/>
          </p:nvPr>
        </p:nvSpPr>
        <p:spPr>
          <a:xfrm>
            <a:off x="1792800" y="1882800"/>
            <a:ext cx="3258000" cy="3740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dirty="0"/>
              <a:t>单击图标添加图片</a:t>
            </a:r>
            <a:endParaRPr lang="en-US" noProof="0" dirty="0"/>
          </a:p>
        </p:txBody>
      </p:sp>
      <p:sp>
        <p:nvSpPr>
          <p:cNvPr id="4" name="KSO_BC2"/>
          <p:cNvSpPr>
            <a:spLocks noGrp="1"/>
          </p:cNvSpPr>
          <p:nvPr>
            <p:ph type="body" sz="half" idx="2"/>
          </p:nvPr>
        </p:nvSpPr>
        <p:spPr>
          <a:xfrm>
            <a:off x="5641200" y="1882800"/>
            <a:ext cx="4608000" cy="3740400"/>
          </a:xfrm>
        </p:spPr>
        <p:txBody>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690144" y="352245"/>
            <a:ext cx="934455" cy="6151586"/>
          </a:xfrm>
        </p:spPr>
        <p:txBody>
          <a:bodyPr vert="horz" anchor="t" anchorCtr="0"/>
          <a:lstStyle>
            <a:lvl1pPr algn="ctr">
              <a:defRPr/>
            </a:lvl1pPr>
          </a:lstStyle>
          <a:p>
            <a:r>
              <a:rPr lang="zh-CN" altLang="en-US"/>
              <a:t>单击此处编辑母版标题样式</a:t>
            </a:r>
            <a:endParaRPr lang="en-US" dirty="0"/>
          </a:p>
        </p:txBody>
      </p:sp>
      <p:sp>
        <p:nvSpPr>
          <p:cNvPr id="3" name="KSO_BC1"/>
          <p:cNvSpPr>
            <a:spLocks noGrp="1"/>
          </p:cNvSpPr>
          <p:nvPr>
            <p:ph type="body" orient="vert" idx="1"/>
          </p:nvPr>
        </p:nvSpPr>
        <p:spPr>
          <a:xfrm>
            <a:off x="579550" y="352245"/>
            <a:ext cx="9930864" cy="6151586"/>
          </a:xfrm>
        </p:spPr>
        <p:txBody>
          <a:bodyPr vert="eaVert"/>
          <a:lstStyle>
            <a:lvl1pPr>
              <a:lnSpc>
                <a:spcPct val="100000"/>
              </a:lnSpc>
              <a:spcBef>
                <a:spcPts val="300"/>
              </a:spcBef>
              <a:spcAft>
                <a:spcPts val="300"/>
              </a:spcAft>
              <a:defRPr sz="2400">
                <a:solidFill>
                  <a:schemeClr val="tx1"/>
                </a:solidFill>
              </a:defRPr>
            </a:lvl1pPr>
            <a:lvl2pPr marL="539750" indent="-179705">
              <a:lnSpc>
                <a:spcPct val="100000"/>
              </a:lnSpc>
              <a:spcBef>
                <a:spcPts val="300"/>
              </a:spcBef>
              <a:spcAft>
                <a:spcPts val="300"/>
              </a:spcAft>
              <a:buClrTx/>
              <a:buFont typeface="Arial" panose="020B0604020202020204" pitchFamily="34" charset="0"/>
              <a:buChar char="•"/>
              <a:defRPr sz="2000">
                <a:solidFill>
                  <a:schemeClr val="tx1"/>
                </a:solidFill>
              </a:defRPr>
            </a:lvl2pPr>
            <a:lvl3pPr marL="720090" indent="-179705">
              <a:lnSpc>
                <a:spcPct val="100000"/>
              </a:lnSpc>
              <a:spcBef>
                <a:spcPts val="300"/>
              </a:spcBef>
              <a:spcAft>
                <a:spcPts val="300"/>
              </a:spcAft>
              <a:defRPr>
                <a:solidFill>
                  <a:schemeClr val="tx1"/>
                </a:solidFill>
              </a:defRPr>
            </a:lvl3pPr>
            <a:lvl4pPr marL="899795" indent="-179705">
              <a:lnSpc>
                <a:spcPct val="100000"/>
              </a:lnSpc>
              <a:spcBef>
                <a:spcPts val="300"/>
              </a:spcBef>
              <a:spcAft>
                <a:spcPts val="300"/>
              </a:spcAft>
              <a:defRPr>
                <a:solidFill>
                  <a:schemeClr val="tx1"/>
                </a:solidFill>
              </a:defRPr>
            </a:lvl4pPr>
            <a:lvl5pPr marL="1080135" indent="-179705">
              <a:lnSpc>
                <a:spcPct val="100000"/>
              </a:lnSpc>
              <a:spcBef>
                <a:spcPts val="300"/>
              </a:spcBef>
              <a:spcAft>
                <a:spcPts val="300"/>
              </a:spcAft>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293688" y="347663"/>
            <a:ext cx="11604625" cy="6259512"/>
          </a:xfrm>
        </p:spPr>
        <p:txBody>
          <a:bodyPr/>
          <a:lstStyle>
            <a:lvl1pPr marL="0" indent="288290">
              <a:lnSpc>
                <a:spcPct val="100000"/>
              </a:lnSpc>
              <a:spcBef>
                <a:spcPts val="0"/>
              </a:spcBef>
              <a:spcAft>
                <a:spcPts val="0"/>
              </a:spcAft>
              <a:defRPr sz="2400">
                <a:solidFill>
                  <a:schemeClr val="tx1"/>
                </a:solidFill>
              </a:defRPr>
            </a:lvl1pPr>
            <a:lvl2pPr marL="539750" indent="-179705">
              <a:lnSpc>
                <a:spcPct val="100000"/>
              </a:lnSpc>
              <a:spcBef>
                <a:spcPts val="0"/>
              </a:spcBef>
              <a:spcAft>
                <a:spcPts val="0"/>
              </a:spcAft>
              <a:buClrTx/>
              <a:buFont typeface="Arial" panose="020B0604020202020204" pitchFamily="34" charset="0"/>
              <a:buChar char="•"/>
              <a:defRPr sz="2000">
                <a:solidFill>
                  <a:schemeClr val="tx1"/>
                </a:solidFill>
              </a:defRPr>
            </a:lvl2pPr>
            <a:lvl3pPr marL="720090" indent="-179705">
              <a:defRPr sz="1800">
                <a:solidFill>
                  <a:schemeClr val="tx1"/>
                </a:solidFill>
              </a:defRPr>
            </a:lvl3pPr>
            <a:lvl4pPr marL="899795" indent="-179705">
              <a:defRPr sz="1800">
                <a:solidFill>
                  <a:schemeClr val="tx1"/>
                </a:solidFill>
              </a:defRPr>
            </a:lvl4pPr>
            <a:lvl5pPr marL="1080135" indent="-179705">
              <a:defRPr sz="18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图片 8"/>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2192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0"/>
            <a:ext cx="12192000" cy="6848475"/>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latin typeface="Arial" panose="020B0604020202020204" pitchFamily="34" charset="0"/>
              <a:ea typeface="黑体" panose="02010609060101010101" pitchFamily="49" charset="-122"/>
            </a:endParaRPr>
          </a:p>
        </p:txBody>
      </p:sp>
      <p:sp>
        <p:nvSpPr>
          <p:cNvPr id="2" name="KSO_BT1"/>
          <p:cNvSpPr>
            <a:spLocks noGrp="1"/>
          </p:cNvSpPr>
          <p:nvPr>
            <p:ph type="title"/>
            <p:custDataLst>
              <p:tags r:id="rId12"/>
            </p:custDataLst>
          </p:nvPr>
        </p:nvSpPr>
        <p:spPr>
          <a:xfrm>
            <a:off x="584200" y="273050"/>
            <a:ext cx="11029950" cy="700088"/>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1029" name="KSO_BC1"/>
          <p:cNvSpPr>
            <a:spLocks noGrp="1"/>
          </p:cNvSpPr>
          <p:nvPr>
            <p:ph type="body" idx="1"/>
            <p:custDataLst>
              <p:tags r:id="rId13"/>
            </p:custDataLst>
          </p:nvPr>
        </p:nvSpPr>
        <p:spPr bwMode="auto">
          <a:xfrm>
            <a:off x="584200" y="1543050"/>
            <a:ext cx="11017250"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p:titleStyle>
    <p:bodyStyle>
      <a:lvl1pPr marL="357505" indent="-357505" algn="just" rtl="0" fontAlgn="base">
        <a:lnSpc>
          <a:spcPct val="100000"/>
        </a:lnSpc>
        <a:spcBef>
          <a:spcPts val="300"/>
        </a:spcBef>
        <a:spcAft>
          <a:spcPts val="300"/>
        </a:spcAft>
        <a:buClr>
          <a:schemeClr val="accent2"/>
        </a:buClr>
        <a:buSzPct val="60000"/>
        <a:buFont typeface="Wingdings 2" pitchFamily="18" charset="2"/>
        <a:buChar char=""/>
        <a:defRPr sz="2400" kern="1200">
          <a:solidFill>
            <a:schemeClr val="tx1"/>
          </a:solidFill>
          <a:latin typeface="Arial" panose="020B0604020202020204" pitchFamily="34" charset="0"/>
          <a:ea typeface="黑体" panose="02010609060101010101" pitchFamily="49" charset="-122"/>
          <a:cs typeface="+mn-cs"/>
        </a:defRPr>
      </a:lvl1pPr>
      <a:lvl2pPr marL="360045" indent="-179705" algn="just" rtl="0" fontAlgn="base">
        <a:lnSpc>
          <a:spcPct val="100000"/>
        </a:lnSpc>
        <a:spcBef>
          <a:spcPts val="300"/>
        </a:spcBef>
        <a:spcAft>
          <a:spcPts val="300"/>
        </a:spcAft>
        <a:buClrTx/>
        <a:buFont typeface="Arial" panose="020B0604020202020204" pitchFamily="34" charset="0"/>
        <a:buChar char="•"/>
        <a:defRPr sz="2000" kern="1200">
          <a:solidFill>
            <a:schemeClr val="tx1"/>
          </a:solidFill>
          <a:latin typeface="幼圆" pitchFamily="49" charset="-122"/>
          <a:ea typeface="黑体" panose="02010609060101010101" pitchFamily="49" charset="-122"/>
          <a:cs typeface="+mn-cs"/>
        </a:defRPr>
      </a:lvl2pPr>
      <a:lvl3pPr marL="539750" indent="-179705" algn="l" rtl="0" fontAlgn="base">
        <a:lnSpc>
          <a:spcPct val="10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3pPr>
      <a:lvl4pPr marL="720090" indent="-179705" algn="l" rtl="0" fontAlgn="base">
        <a:lnSpc>
          <a:spcPct val="10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899795" indent="-179705" algn="l" rtl="0" fontAlgn="base">
        <a:lnSpc>
          <a:spcPct val="10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6.sv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image" Target="../media/image6.svg"/><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image" Target="../media/image5.png"/><Relationship Id="rId2" Type="http://schemas.openxmlformats.org/officeDocument/2006/relationships/tags" Target="../tags/tag6.xml"/><Relationship Id="rId16" Type="http://schemas.openxmlformats.org/officeDocument/2006/relationships/image" Target="../media/image7.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notesSlide" Target="../notesSlides/notesSlide2.xml"/><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6.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0.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6.sv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2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6.sv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9.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26.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6.svg"/><Relationship Id="rId4" Type="http://schemas.openxmlformats.org/officeDocument/2006/relationships/image" Target="../media/image7.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10.xml"/><Relationship Id="rId7" Type="http://schemas.openxmlformats.org/officeDocument/2006/relationships/image" Target="../media/image6.svg"/><Relationship Id="rId2" Type="http://schemas.openxmlformats.org/officeDocument/2006/relationships/slideLayout" Target="../slideLayouts/slideLayout7.xml"/><Relationship Id="rId1" Type="http://schemas.openxmlformats.org/officeDocument/2006/relationships/tags" Target="../tags/tag27.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6.sv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6.sv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4">
            <a:extLst>
              <a:ext uri="{BEBA8EAE-BF5A-486C-A8C5-ECC9F3942E4B}">
                <a14:imgProps xmlns:a14="http://schemas.microsoft.com/office/drawing/2010/main">
                  <a14:imgLayer r:embed="rId5">
                    <a14:imgEffect>
                      <a14:artisticCrisscrossEtching/>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504714" y="0"/>
            <a:ext cx="1687286" cy="1697966"/>
          </a:xfrm>
          <a:prstGeom prst="rect">
            <a:avLst/>
          </a:prstGeom>
        </p:spPr>
      </p:pic>
      <p:sp>
        <p:nvSpPr>
          <p:cNvPr id="6" name="标题 5">
            <a:extLst>
              <a:ext uri="{FF2B5EF4-FFF2-40B4-BE49-F238E27FC236}">
                <a16:creationId xmlns:a16="http://schemas.microsoft.com/office/drawing/2014/main" id="{1A1D424E-96C9-4B4A-BC25-3628CCA13E8C}"/>
              </a:ext>
            </a:extLst>
          </p:cNvPr>
          <p:cNvSpPr>
            <a:spLocks noGrp="1"/>
          </p:cNvSpPr>
          <p:nvPr>
            <p:ph type="title"/>
          </p:nvPr>
        </p:nvSpPr>
        <p:spPr>
          <a:xfrm>
            <a:off x="908519" y="1857376"/>
            <a:ext cx="10374961" cy="866415"/>
          </a:xfrm>
        </p:spPr>
        <p:txBody>
          <a:bodyPr/>
          <a:lstStyle/>
          <a:p>
            <a:r>
              <a:rPr lang="zh-CN" altLang="en-US" dirty="0"/>
              <a:t>大语言模型监督微调数据优化算法研究</a:t>
            </a:r>
          </a:p>
        </p:txBody>
      </p:sp>
      <p:sp>
        <p:nvSpPr>
          <p:cNvPr id="7" name="副标题 6">
            <a:extLst>
              <a:ext uri="{FF2B5EF4-FFF2-40B4-BE49-F238E27FC236}">
                <a16:creationId xmlns:a16="http://schemas.microsoft.com/office/drawing/2014/main" id="{56614ADF-F9AD-42F4-844D-84EC70578ACC}"/>
              </a:ext>
            </a:extLst>
          </p:cNvPr>
          <p:cNvSpPr>
            <a:spLocks noGrp="1"/>
          </p:cNvSpPr>
          <p:nvPr>
            <p:ph type="subTitle" idx="1"/>
          </p:nvPr>
        </p:nvSpPr>
        <p:spPr>
          <a:xfrm>
            <a:off x="3732731" y="3010158"/>
            <a:ext cx="4726539" cy="766314"/>
          </a:xfrm>
        </p:spPr>
        <p:txBody>
          <a:bodyPr/>
          <a:lstStyle/>
          <a:p>
            <a:r>
              <a:rPr lang="en-US" altLang="zh-CN" dirty="0"/>
              <a:t>2025.07</a:t>
            </a:r>
            <a:r>
              <a:rPr lang="zh-CN" altLang="en-US" dirty="0"/>
              <a:t> </a:t>
            </a:r>
            <a:endParaRPr lang="en-US" altLang="zh-CN" dirty="0"/>
          </a:p>
          <a:p>
            <a:r>
              <a:rPr lang="zh-CN" altLang="en-US" dirty="0"/>
              <a:t>汇报人：戴昕笛</a:t>
            </a:r>
            <a:endParaRPr lang="en-US" altLang="zh-CN"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4200" y="273050"/>
            <a:ext cx="4619625" cy="698500"/>
          </a:xfrm>
        </p:spPr>
        <p:txBody>
          <a:bodyPr/>
          <a:lstStyle/>
          <a:p>
            <a:r>
              <a:rPr lang="zh-CN" altLang="en-US"/>
              <a:t>目录</a:t>
            </a:r>
          </a:p>
        </p:txBody>
      </p:sp>
      <p:grpSp>
        <p:nvGrpSpPr>
          <p:cNvPr id="26" name="组合 25"/>
          <p:cNvGrpSpPr/>
          <p:nvPr>
            <p:custDataLst>
              <p:tags r:id="rId2"/>
            </p:custDataLst>
          </p:nvPr>
        </p:nvGrpSpPr>
        <p:grpSpPr>
          <a:xfrm>
            <a:off x="3179640" y="2046605"/>
            <a:ext cx="5940719" cy="595541"/>
            <a:chOff x="3827463" y="1824038"/>
            <a:chExt cx="4522787" cy="595312"/>
          </a:xfrm>
        </p:grpSpPr>
        <p:sp>
          <p:nvSpPr>
            <p:cNvPr id="5" name="MH_Number_1"/>
            <p:cNvSpPr/>
            <p:nvPr>
              <p:custDataLst>
                <p:tags r:id="rId12"/>
              </p:custDataLst>
            </p:nvPr>
          </p:nvSpPr>
          <p:spPr>
            <a:xfrm>
              <a:off x="3827463" y="1824038"/>
              <a:ext cx="595312" cy="595312"/>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en-US" altLang="zh-CN" sz="2800" dirty="0">
                  <a:solidFill>
                    <a:schemeClr val="accent1"/>
                  </a:solidFill>
                </a:rPr>
                <a:t>1</a:t>
              </a:r>
              <a:endParaRPr lang="zh-CN" altLang="en-US" sz="2800" dirty="0">
                <a:solidFill>
                  <a:schemeClr val="accent1"/>
                </a:solidFill>
              </a:endParaRPr>
            </a:p>
          </p:txBody>
        </p:sp>
        <p:sp>
          <p:nvSpPr>
            <p:cNvPr id="6" name="MH_Entry_1"/>
            <p:cNvSpPr/>
            <p:nvPr>
              <p:custDataLst>
                <p:tags r:id="rId13"/>
              </p:custDataLst>
            </p:nvPr>
          </p:nvSpPr>
          <p:spPr>
            <a:xfrm>
              <a:off x="4554538" y="1824038"/>
              <a:ext cx="3795712" cy="595312"/>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zh-CN" altLang="en-US" dirty="0">
                  <a:solidFill>
                    <a:schemeClr val="bg1"/>
                  </a:solidFill>
                </a:rPr>
                <a:t>研 究 背 景</a:t>
              </a:r>
            </a:p>
          </p:txBody>
        </p:sp>
      </p:grpSp>
      <p:grpSp>
        <p:nvGrpSpPr>
          <p:cNvPr id="25" name="组合 24"/>
          <p:cNvGrpSpPr/>
          <p:nvPr>
            <p:custDataLst>
              <p:tags r:id="rId3"/>
            </p:custDataLst>
          </p:nvPr>
        </p:nvGrpSpPr>
        <p:grpSpPr>
          <a:xfrm>
            <a:off x="3179640" y="2867658"/>
            <a:ext cx="5940719" cy="595542"/>
            <a:chOff x="3827463" y="2644775"/>
            <a:chExt cx="4522787" cy="595313"/>
          </a:xfrm>
        </p:grpSpPr>
        <p:sp>
          <p:nvSpPr>
            <p:cNvPr id="21" name="MH_Number_2"/>
            <p:cNvSpPr/>
            <p:nvPr>
              <p:custDataLst>
                <p:tags r:id="rId10"/>
              </p:custDataLst>
            </p:nvPr>
          </p:nvSpPr>
          <p:spPr>
            <a:xfrm>
              <a:off x="3827463" y="2644775"/>
              <a:ext cx="595312" cy="595313"/>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en-US" altLang="zh-CN" sz="2800">
                  <a:solidFill>
                    <a:schemeClr val="accent1"/>
                  </a:solidFill>
                </a:rPr>
                <a:t>2</a:t>
              </a:r>
              <a:endParaRPr lang="zh-CN" altLang="en-US" sz="2800">
                <a:solidFill>
                  <a:schemeClr val="accent1"/>
                </a:solidFill>
              </a:endParaRPr>
            </a:p>
          </p:txBody>
        </p:sp>
        <p:sp>
          <p:nvSpPr>
            <p:cNvPr id="22" name="MH_Entry_2"/>
            <p:cNvSpPr/>
            <p:nvPr>
              <p:custDataLst>
                <p:tags r:id="rId11"/>
              </p:custDataLst>
            </p:nvPr>
          </p:nvSpPr>
          <p:spPr>
            <a:xfrm>
              <a:off x="4554538" y="2644775"/>
              <a:ext cx="3795712" cy="595313"/>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zh-CN" altLang="en-US" dirty="0">
                  <a:solidFill>
                    <a:schemeClr val="bg1"/>
                  </a:solidFill>
                </a:rPr>
                <a:t>研 究 现 状</a:t>
              </a:r>
            </a:p>
          </p:txBody>
        </p:sp>
      </p:grpSp>
      <p:grpSp>
        <p:nvGrpSpPr>
          <p:cNvPr id="24" name="组合 23"/>
          <p:cNvGrpSpPr/>
          <p:nvPr>
            <p:custDataLst>
              <p:tags r:id="rId4"/>
            </p:custDataLst>
          </p:nvPr>
        </p:nvGrpSpPr>
        <p:grpSpPr>
          <a:xfrm>
            <a:off x="3179640" y="3690299"/>
            <a:ext cx="5940719" cy="595542"/>
            <a:chOff x="3827463" y="3467100"/>
            <a:chExt cx="4522787" cy="595313"/>
          </a:xfrm>
        </p:grpSpPr>
        <p:sp>
          <p:nvSpPr>
            <p:cNvPr id="7" name="MH_Number_1"/>
            <p:cNvSpPr/>
            <p:nvPr>
              <p:custDataLst>
                <p:tags r:id="rId8"/>
              </p:custDataLst>
            </p:nvPr>
          </p:nvSpPr>
          <p:spPr>
            <a:xfrm>
              <a:off x="3827463" y="3467100"/>
              <a:ext cx="595312" cy="595313"/>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en-US" altLang="zh-CN" sz="2800">
                  <a:solidFill>
                    <a:schemeClr val="accent1"/>
                  </a:solidFill>
                </a:rPr>
                <a:t>3</a:t>
              </a:r>
              <a:endParaRPr lang="zh-CN" altLang="en-US" sz="2800">
                <a:solidFill>
                  <a:schemeClr val="accent1"/>
                </a:solidFill>
              </a:endParaRPr>
            </a:p>
          </p:txBody>
        </p:sp>
        <p:sp>
          <p:nvSpPr>
            <p:cNvPr id="8" name="MH_Entry_1"/>
            <p:cNvSpPr/>
            <p:nvPr>
              <p:custDataLst>
                <p:tags r:id="rId9"/>
              </p:custDataLst>
            </p:nvPr>
          </p:nvSpPr>
          <p:spPr>
            <a:xfrm>
              <a:off x="4554538" y="3467100"/>
              <a:ext cx="3795712" cy="595313"/>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zh-CN" altLang="en-US" dirty="0">
                  <a:solidFill>
                    <a:schemeClr val="bg1"/>
                  </a:solidFill>
                </a:rPr>
                <a:t>相 关 工 作</a:t>
              </a:r>
            </a:p>
          </p:txBody>
        </p:sp>
      </p:grpSp>
      <p:grpSp>
        <p:nvGrpSpPr>
          <p:cNvPr id="23" name="组合 22"/>
          <p:cNvGrpSpPr/>
          <p:nvPr>
            <p:custDataLst>
              <p:tags r:id="rId5"/>
            </p:custDataLst>
          </p:nvPr>
        </p:nvGrpSpPr>
        <p:grpSpPr>
          <a:xfrm>
            <a:off x="3179640" y="4511353"/>
            <a:ext cx="5940719" cy="595541"/>
            <a:chOff x="3827463" y="4287838"/>
            <a:chExt cx="4522787" cy="595312"/>
          </a:xfrm>
        </p:grpSpPr>
        <p:sp>
          <p:nvSpPr>
            <p:cNvPr id="9" name="MH_Number_2"/>
            <p:cNvSpPr/>
            <p:nvPr>
              <p:custDataLst>
                <p:tags r:id="rId6"/>
              </p:custDataLst>
            </p:nvPr>
          </p:nvSpPr>
          <p:spPr>
            <a:xfrm>
              <a:off x="3827463" y="4287838"/>
              <a:ext cx="595312" cy="595312"/>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en-US" altLang="zh-CN" sz="2800">
                  <a:solidFill>
                    <a:schemeClr val="accent1"/>
                  </a:solidFill>
                </a:rPr>
                <a:t>4</a:t>
              </a:r>
              <a:endParaRPr lang="zh-CN" altLang="en-US" sz="2800">
                <a:solidFill>
                  <a:schemeClr val="accent1"/>
                </a:solidFill>
              </a:endParaRPr>
            </a:p>
          </p:txBody>
        </p:sp>
        <p:sp>
          <p:nvSpPr>
            <p:cNvPr id="10" name="MH_Entry_2"/>
            <p:cNvSpPr/>
            <p:nvPr>
              <p:custDataLst>
                <p:tags r:id="rId7"/>
              </p:custDataLst>
            </p:nvPr>
          </p:nvSpPr>
          <p:spPr>
            <a:xfrm>
              <a:off x="4554538" y="4287838"/>
              <a:ext cx="3795712" cy="595312"/>
            </a:xfrm>
            <a:prstGeom prst="rect">
              <a:avLst/>
            </a:pr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r>
                <a:rPr lang="zh-CN" altLang="en-US" dirty="0">
                  <a:solidFill>
                    <a:schemeClr val="bg1"/>
                  </a:solidFill>
                </a:rPr>
                <a:t>研 究 方 法</a:t>
              </a:r>
            </a:p>
          </p:txBody>
        </p:sp>
      </p:grpSp>
      <p:pic>
        <p:nvPicPr>
          <p:cNvPr id="16" name="图片 15" descr="校徽"/>
          <p:cNvPicPr>
            <a:picLocks noChangeAspect="1"/>
          </p:cNvPicPr>
          <p:nvPr/>
        </p:nvPicPr>
        <p:blipFill>
          <a:blip r:embed="rId16"/>
          <a:stretch>
            <a:fillRect/>
          </a:stretch>
        </p:blipFill>
        <p:spPr>
          <a:xfrm>
            <a:off x="10744200" y="158750"/>
            <a:ext cx="1287780" cy="1287780"/>
          </a:xfrm>
          <a:prstGeom prst="rect">
            <a:avLst/>
          </a:prstGeom>
        </p:spPr>
      </p:pic>
      <p:sp>
        <p:nvSpPr>
          <p:cNvPr id="4" name="文本框 3">
            <a:extLst>
              <a:ext uri="{FF2B5EF4-FFF2-40B4-BE49-F238E27FC236}">
                <a16:creationId xmlns:a16="http://schemas.microsoft.com/office/drawing/2014/main" id="{375E6C18-5C57-0047-9C87-CE9754BC5EC7}"/>
              </a:ext>
            </a:extLst>
          </p:cNvPr>
          <p:cNvSpPr txBox="1"/>
          <p:nvPr/>
        </p:nvSpPr>
        <p:spPr>
          <a:xfrm>
            <a:off x="6003620" y="6438565"/>
            <a:ext cx="284052" cy="343235"/>
          </a:xfrm>
          <a:prstGeom prst="rect">
            <a:avLst/>
          </a:prstGeom>
          <a:noFill/>
        </p:spPr>
        <p:txBody>
          <a:bodyPr wrap="none" rtlCol="0">
            <a:spAutoFit/>
          </a:bodyPr>
          <a:lstStyle/>
          <a:p>
            <a:pPr>
              <a:lnSpc>
                <a:spcPct val="130000"/>
              </a:lnSpc>
            </a:pPr>
            <a:r>
              <a:rPr kumimoji="1" lang="en-US" altLang="zh-CN" sz="1400" dirty="0">
                <a:ea typeface="微软雅黑" panose="020B0503020204020204" pitchFamily="34" charset="-122"/>
              </a:rPr>
              <a:t>1</a:t>
            </a:r>
            <a:endParaRPr kumimoji="1" lang="zh-CN" altLang="en-US" sz="1400" dirty="0">
              <a:latin typeface="Arial" panose="020B0604020202020204" pitchFamily="34" charset="0"/>
              <a:ea typeface="微软雅黑" panose="020B0503020204020204" pitchFamily="34" charset="-122"/>
            </a:endParaRPr>
          </a:p>
        </p:txBody>
      </p:sp>
      <p:pic>
        <p:nvPicPr>
          <p:cNvPr id="11" name="图片 1">
            <a:extLst>
              <a:ext uri="{FF2B5EF4-FFF2-40B4-BE49-F238E27FC236}">
                <a16:creationId xmlns:a16="http://schemas.microsoft.com/office/drawing/2014/main" id="{991E4BD7-8382-EC25-92C9-79DA60FBB5D1}"/>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solidFill>
            <a:srgbClr val="358CC1"/>
          </a:solidFill>
        </p:spPr>
        <p:txBody>
          <a:bodyPr/>
          <a:lstStyle/>
          <a:p>
            <a:r>
              <a:rPr lang="zh-CN" altLang="zh-CN" dirty="0">
                <a:latin typeface="+mj-lt"/>
                <a:ea typeface="+mj-ea"/>
              </a:rPr>
              <a:t>研 究 背 景</a:t>
            </a:r>
          </a:p>
        </p:txBody>
      </p:sp>
      <p:pic>
        <p:nvPicPr>
          <p:cNvPr id="16" name="图片 15" descr="校徽"/>
          <p:cNvPicPr>
            <a:picLocks noChangeAspect="1"/>
          </p:cNvPicPr>
          <p:nvPr/>
        </p:nvPicPr>
        <p:blipFill>
          <a:blip r:embed="rId5"/>
          <a:stretch>
            <a:fillRect/>
          </a:stretch>
        </p:blipFill>
        <p:spPr>
          <a:xfrm>
            <a:off x="10744200" y="158750"/>
            <a:ext cx="1287780" cy="1287780"/>
          </a:xfrm>
          <a:prstGeom prst="rect">
            <a:avLst/>
          </a:prstGeom>
        </p:spPr>
      </p:pic>
      <p:sp>
        <p:nvSpPr>
          <p:cNvPr id="4" name="文本框 3">
            <a:extLst>
              <a:ext uri="{FF2B5EF4-FFF2-40B4-BE49-F238E27FC236}">
                <a16:creationId xmlns:a16="http://schemas.microsoft.com/office/drawing/2014/main" id="{E5CE4A3E-7F7A-CF47-B667-40438C9F4EEB}"/>
              </a:ext>
            </a:extLst>
          </p:cNvPr>
          <p:cNvSpPr txBox="1"/>
          <p:nvPr/>
        </p:nvSpPr>
        <p:spPr>
          <a:xfrm>
            <a:off x="5953974" y="6379950"/>
            <a:ext cx="284052" cy="343235"/>
          </a:xfrm>
          <a:prstGeom prst="rect">
            <a:avLst/>
          </a:prstGeom>
          <a:noFill/>
        </p:spPr>
        <p:txBody>
          <a:bodyPr wrap="none" rtlCol="0">
            <a:spAutoFit/>
          </a:bodyPr>
          <a:lstStyle/>
          <a:p>
            <a:pPr>
              <a:lnSpc>
                <a:spcPct val="130000"/>
              </a:lnSpc>
            </a:pPr>
            <a:r>
              <a:rPr kumimoji="1" lang="en-US" altLang="zh-CN" sz="1400" dirty="0">
                <a:latin typeface="Arial" panose="020B0604020202020204" pitchFamily="34" charset="0"/>
                <a:ea typeface="微软雅黑" panose="020B0503020204020204" pitchFamily="34" charset="-122"/>
              </a:rPr>
              <a:t>2</a:t>
            </a:r>
            <a:endParaRPr kumimoji="1" lang="zh-CN" altLang="en-US" sz="1400" dirty="0">
              <a:latin typeface="Arial" panose="020B0604020202020204" pitchFamily="34" charset="0"/>
              <a:ea typeface="微软雅黑" panose="020B0503020204020204" pitchFamily="34" charset="-122"/>
            </a:endParaRPr>
          </a:p>
        </p:txBody>
      </p:sp>
      <p:pic>
        <p:nvPicPr>
          <p:cNvPr id="3" name="图片 1">
            <a:extLst>
              <a:ext uri="{FF2B5EF4-FFF2-40B4-BE49-F238E27FC236}">
                <a16:creationId xmlns:a16="http://schemas.microsoft.com/office/drawing/2014/main" id="{B9843706-906B-872C-6B7C-C21361E3C75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a:xfrm>
            <a:off x="584200" y="273050"/>
            <a:ext cx="4619625" cy="698500"/>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a:lstStyle>
          <a:p>
            <a:r>
              <a:rPr lang="zh-CN" altLang="en-US" dirty="0"/>
              <a:t>研究背景</a:t>
            </a:r>
          </a:p>
        </p:txBody>
      </p:sp>
      <p:pic>
        <p:nvPicPr>
          <p:cNvPr id="16" name="图片 15" descr="校徽"/>
          <p:cNvPicPr>
            <a:picLocks noChangeAspect="1"/>
          </p:cNvPicPr>
          <p:nvPr/>
        </p:nvPicPr>
        <p:blipFill>
          <a:blip r:embed="rId4"/>
          <a:stretch>
            <a:fillRect/>
          </a:stretch>
        </p:blipFill>
        <p:spPr>
          <a:xfrm>
            <a:off x="10744200" y="158750"/>
            <a:ext cx="1287780" cy="1287780"/>
          </a:xfrm>
          <a:prstGeom prst="rect">
            <a:avLst/>
          </a:prstGeom>
        </p:spPr>
      </p:pic>
      <p:sp>
        <p:nvSpPr>
          <p:cNvPr id="6151" name="文本框 6150"/>
          <p:cNvSpPr txBox="1"/>
          <p:nvPr/>
        </p:nvSpPr>
        <p:spPr>
          <a:xfrm>
            <a:off x="891486" y="1458990"/>
            <a:ext cx="10681335" cy="1938992"/>
          </a:xfrm>
          <a:prstGeom prst="rect">
            <a:avLst/>
          </a:prstGeom>
          <a:noFill/>
          <a:ln w="9525">
            <a:noFill/>
            <a:miter/>
          </a:ln>
        </p:spPr>
        <p:txBody>
          <a:bodyPr wrap="square">
            <a:spAutoFit/>
          </a:bodyPr>
          <a:lstStyle/>
          <a:p>
            <a:pPr marL="1905" lvl="0" indent="-1905" eaLnBrk="1" hangingPunct="1"/>
            <a:r>
              <a:rPr lang="en-US" altLang="zh-CN" sz="2400" strike="noStrike" noProof="1">
                <a:latin typeface="微软雅黑" panose="020B0503020204020204" pitchFamily="34" charset="-122"/>
                <a:ea typeface="微软雅黑" panose="020B0503020204020204" pitchFamily="34" charset="-122"/>
                <a:cs typeface="+mn-ea"/>
              </a:rPr>
              <a:t>	</a:t>
            </a:r>
            <a:endParaRPr lang="en-US" altLang="zh-CN" sz="2400" strike="noStrike" noProof="1">
              <a:latin typeface="Arial" panose="020B0604020202020204" pitchFamily="34" charset="0"/>
              <a:ea typeface="宋体" panose="02010600030101010101" pitchFamily="2" charset="-122"/>
            </a:endParaRPr>
          </a:p>
          <a:p>
            <a:pPr marL="1905" lvl="0" indent="-1905" algn="l" eaLnBrk="1" fontAlgn="base" latinLnBrk="0" hangingPunct="1"/>
            <a:endParaRPr lang="zh-CN" altLang="en-US" sz="2400" strike="noStrike" noProof="1">
              <a:latin typeface="Arial" panose="020B0604020202020204" pitchFamily="34" charset="0"/>
              <a:ea typeface="宋体" panose="02010600030101010101" pitchFamily="2" charset="-122"/>
            </a:endParaRPr>
          </a:p>
          <a:p>
            <a:pPr marL="1905" lvl="0" indent="-1905" algn="l" eaLnBrk="1" fontAlgn="base" latinLnBrk="0" hangingPunct="1"/>
            <a:r>
              <a:rPr lang="en-US" altLang="zh-CN" dirty="0">
                <a:ea typeface="宋体" panose="02010600030101010101" pitchFamily="2" charset="-122"/>
                <a:cs typeface="+mn-ea"/>
                <a:sym typeface="+mn-ea"/>
              </a:rPr>
              <a:t>	</a:t>
            </a:r>
            <a:endParaRPr lang="zh-CN" altLang="en-US" sz="2400" strike="noStrike" noProof="1">
              <a:latin typeface="Arial" panose="020B0604020202020204" pitchFamily="34" charset="0"/>
              <a:ea typeface="宋体" panose="02010600030101010101" pitchFamily="2" charset="-122"/>
            </a:endParaRPr>
          </a:p>
          <a:p>
            <a:pPr marL="459105" lvl="1" indent="340995" algn="l" eaLnBrk="1" fontAlgn="base" latinLnBrk="0" hangingPunct="1">
              <a:buChar char="•"/>
            </a:pPr>
            <a:endParaRPr lang="zh-CN" altLang="en-US" sz="2400" strike="noStrike" noProof="1">
              <a:latin typeface="Arial" panose="020B0604020202020204" pitchFamily="34" charset="0"/>
              <a:ea typeface="宋体" panose="02010600030101010101" pitchFamily="2" charset="-122"/>
            </a:endParaRPr>
          </a:p>
          <a:p>
            <a:pPr marL="1905" lvl="0" indent="-1905" algn="l" eaLnBrk="1" fontAlgn="base" latinLnBrk="0" hangingPunct="1"/>
            <a:endParaRPr lang="zh-CN" altLang="en-US" sz="2400" strike="noStrike" noProof="1">
              <a:latin typeface="Arial" panose="020B0604020202020204" pitchFamily="34" charset="0"/>
              <a:ea typeface="宋体" panose="02010600030101010101" pitchFamily="2" charset="-122"/>
            </a:endParaRPr>
          </a:p>
        </p:txBody>
      </p:sp>
      <p:sp>
        <p:nvSpPr>
          <p:cNvPr id="3" name="AutoShape 2" descr="âæ äººé©¾é©¶âçå¾çæç´¢ç»æ"/>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6">
            <a:extLst>
              <a:ext uri="{FF2B5EF4-FFF2-40B4-BE49-F238E27FC236}">
                <a16:creationId xmlns:a16="http://schemas.microsoft.com/office/drawing/2014/main" id="{7FB46790-ABBB-8646-8B1A-F26ADEF35A75}"/>
              </a:ext>
            </a:extLst>
          </p:cNvPr>
          <p:cNvSpPr>
            <a:spLocks noChangeAspect="1" noChangeArrowheads="1"/>
          </p:cNvSpPr>
          <p:nvPr/>
        </p:nvSpPr>
        <p:spPr bwMode="auto">
          <a:xfrm>
            <a:off x="1016000" y="1079500"/>
            <a:ext cx="10160000" cy="469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文本框 9">
            <a:extLst>
              <a:ext uri="{FF2B5EF4-FFF2-40B4-BE49-F238E27FC236}">
                <a16:creationId xmlns:a16="http://schemas.microsoft.com/office/drawing/2014/main" id="{8C5A1D33-93B4-5B4A-9AAD-FAE0E928452A}"/>
              </a:ext>
            </a:extLst>
          </p:cNvPr>
          <p:cNvSpPr txBox="1"/>
          <p:nvPr/>
        </p:nvSpPr>
        <p:spPr>
          <a:xfrm>
            <a:off x="1016000" y="1458990"/>
            <a:ext cx="9800409" cy="3782446"/>
          </a:xfrm>
          <a:prstGeom prst="rect">
            <a:avLst/>
          </a:prstGeom>
          <a:noFill/>
        </p:spPr>
        <p:txBody>
          <a:bodyPr wrap="square" rtlCol="0">
            <a:spAutoFit/>
          </a:bodyPr>
          <a:lstStyle/>
          <a:p>
            <a:pPr>
              <a:lnSpc>
                <a:spcPct val="150000"/>
              </a:lnSpc>
            </a:pPr>
            <a:r>
              <a:rPr kumimoji="1" lang="zh-CN" altLang="en-US" sz="1800" dirty="0">
                <a:ea typeface="微软雅黑" panose="020B0503020204020204" pitchFamily="34" charset="-122"/>
              </a:rPr>
              <a:t>        </a:t>
            </a:r>
            <a:r>
              <a:rPr kumimoji="1" lang="en-US" altLang="zh-CN" sz="1800" dirty="0">
                <a:ea typeface="微软雅黑" panose="020B0503020204020204" pitchFamily="34" charset="-122"/>
              </a:rPr>
              <a:t>	</a:t>
            </a:r>
            <a:r>
              <a:rPr kumimoji="1" lang="zh-CN" altLang="en-US" sz="1800" dirty="0">
                <a:ea typeface="微软雅黑" panose="020B0503020204020204" pitchFamily="34" charset="-122"/>
              </a:rPr>
              <a:t>大语言模型（</a:t>
            </a:r>
            <a:r>
              <a:rPr kumimoji="1" lang="en-US" altLang="zh-CN" sz="1800" dirty="0">
                <a:ea typeface="微软雅黑" panose="020B0503020204020204" pitchFamily="34" charset="-122"/>
              </a:rPr>
              <a:t>LLM</a:t>
            </a:r>
            <a:r>
              <a:rPr kumimoji="1" lang="zh-CN" altLang="en-US" sz="1800" dirty="0">
                <a:ea typeface="微软雅黑" panose="020B0503020204020204" pitchFamily="34" charset="-122"/>
              </a:rPr>
              <a:t>）在自然语言处理（</a:t>
            </a:r>
            <a:r>
              <a:rPr kumimoji="1" lang="en-US" altLang="zh-CN" sz="1800" dirty="0">
                <a:ea typeface="微软雅黑" panose="020B0503020204020204" pitchFamily="34" charset="-122"/>
              </a:rPr>
              <a:t>NLP</a:t>
            </a:r>
            <a:r>
              <a:rPr kumimoji="1" lang="zh-CN" altLang="en-US" sz="1800" dirty="0">
                <a:ea typeface="微软雅黑" panose="020B0503020204020204" pitchFamily="34" charset="-122"/>
              </a:rPr>
              <a:t>）领域取得了变革性进展，例如文本生成、问答、情感分析等。监督微调（</a:t>
            </a:r>
            <a:r>
              <a:rPr kumimoji="1" lang="en-US" altLang="zh-CN" sz="1800" dirty="0">
                <a:ea typeface="微软雅黑" panose="020B0503020204020204" pitchFamily="34" charset="-122"/>
              </a:rPr>
              <a:t>SFT</a:t>
            </a:r>
            <a:r>
              <a:rPr kumimoji="1" lang="zh-CN" altLang="en-US" sz="1800" dirty="0">
                <a:ea typeface="微软雅黑" panose="020B0503020204020204" pitchFamily="34" charset="-122"/>
              </a:rPr>
              <a:t>）是 </a:t>
            </a:r>
            <a:r>
              <a:rPr kumimoji="1" lang="en-US" altLang="zh-CN" sz="1800" dirty="0">
                <a:ea typeface="微软雅黑" panose="020B0503020204020204" pitchFamily="34" charset="-122"/>
              </a:rPr>
              <a:t>LLM </a:t>
            </a:r>
            <a:r>
              <a:rPr kumimoji="1" lang="zh-CN" altLang="en-US" sz="1800" dirty="0">
                <a:ea typeface="微软雅黑" panose="020B0503020204020204" pitchFamily="34" charset="-122"/>
              </a:rPr>
              <a:t>训练过程中的关键步骤，旨在使 </a:t>
            </a:r>
            <a:r>
              <a:rPr kumimoji="1" lang="en-US" altLang="zh-CN" sz="1800" dirty="0">
                <a:ea typeface="微软雅黑" panose="020B0503020204020204" pitchFamily="34" charset="-122"/>
              </a:rPr>
              <a:t>LLM </a:t>
            </a:r>
            <a:r>
              <a:rPr kumimoji="1" lang="zh-CN" altLang="en-US" sz="1800" dirty="0">
                <a:ea typeface="微软雅黑" panose="020B0503020204020204" pitchFamily="34" charset="-122"/>
              </a:rPr>
              <a:t>能够遵循指令并与人类偏好对齐。然而，现有</a:t>
            </a:r>
            <a:r>
              <a:rPr kumimoji="1" lang="en-US" altLang="zh-CN" sz="1800" dirty="0">
                <a:ea typeface="微软雅黑" panose="020B0503020204020204" pitchFamily="34" charset="-122"/>
              </a:rPr>
              <a:t>SFT</a:t>
            </a:r>
            <a:r>
              <a:rPr kumimoji="1" lang="zh-CN" altLang="en-US" sz="1800" dirty="0">
                <a:ea typeface="微软雅黑" panose="020B0503020204020204" pitchFamily="34" charset="-122"/>
              </a:rPr>
              <a:t>方法主要依赖于</a:t>
            </a:r>
            <a:r>
              <a:rPr kumimoji="1" lang="zh-CN" altLang="en-US" sz="1800" b="1" dirty="0">
                <a:ea typeface="微软雅黑" panose="020B0503020204020204" pitchFamily="34" charset="-122"/>
              </a:rPr>
              <a:t>高质量</a:t>
            </a:r>
            <a:r>
              <a:rPr kumimoji="1" lang="en-US" altLang="zh-CN" sz="1800" b="1" dirty="0">
                <a:ea typeface="微软雅黑" panose="020B0503020204020204" pitchFamily="34" charset="-122"/>
              </a:rPr>
              <a:t>SFT</a:t>
            </a:r>
            <a:r>
              <a:rPr kumimoji="1" lang="zh-CN" altLang="en-US" sz="1800" b="1" dirty="0">
                <a:ea typeface="微软雅黑" panose="020B0503020204020204" pitchFamily="34" charset="-122"/>
              </a:rPr>
              <a:t>样本</a:t>
            </a:r>
            <a:r>
              <a:rPr kumimoji="1" lang="zh-CN" altLang="en-US" sz="1800" dirty="0">
                <a:ea typeface="微软雅黑" panose="020B0503020204020204" pitchFamily="34" charset="-122"/>
              </a:rPr>
              <a:t>的选择，通常依赖于复杂的</a:t>
            </a:r>
            <a:r>
              <a:rPr kumimoji="1" lang="zh-CN" altLang="en-US" sz="1800" b="1" dirty="0">
                <a:ea typeface="微软雅黑" panose="020B0503020204020204" pitchFamily="34" charset="-122"/>
              </a:rPr>
              <a:t>人工启发式</a:t>
            </a:r>
            <a:r>
              <a:rPr kumimoji="1" lang="zh-CN" altLang="en-US" sz="1800" dirty="0">
                <a:ea typeface="微软雅黑" panose="020B0503020204020204" pitchFamily="34" charset="-122"/>
              </a:rPr>
              <a:t>数据过滤策略，导致了高昂的</a:t>
            </a:r>
            <a:r>
              <a:rPr kumimoji="1" lang="zh-CN" altLang="en-US" sz="1800" b="1" dirty="0">
                <a:ea typeface="微软雅黑" panose="020B0503020204020204" pitchFamily="34" charset="-122"/>
              </a:rPr>
              <a:t>计算和人力成本</a:t>
            </a:r>
            <a:r>
              <a:rPr kumimoji="1" lang="zh-CN" altLang="en-US" sz="1800" dirty="0">
                <a:ea typeface="微软雅黑" panose="020B0503020204020204" pitchFamily="34" charset="-122"/>
              </a:rPr>
              <a:t>，限制了其适应性，且未能充分利用</a:t>
            </a:r>
            <a:r>
              <a:rPr kumimoji="1" lang="en-US" altLang="zh-CN" sz="1800" dirty="0">
                <a:ea typeface="微软雅黑" panose="020B0503020204020204" pitchFamily="34" charset="-122"/>
              </a:rPr>
              <a:t>SFT</a:t>
            </a:r>
            <a:r>
              <a:rPr kumimoji="1" lang="zh-CN" altLang="en-US" sz="1800" dirty="0">
                <a:ea typeface="微软雅黑" panose="020B0503020204020204" pitchFamily="34" charset="-122"/>
              </a:rPr>
              <a:t>数据本身的</a:t>
            </a:r>
            <a:r>
              <a:rPr kumimoji="1" lang="zh-CN" altLang="en-US" sz="1800" b="1" dirty="0">
                <a:ea typeface="微软雅黑" panose="020B0503020204020204" pitchFamily="34" charset="-122"/>
              </a:rPr>
              <a:t>内在属性</a:t>
            </a:r>
            <a:r>
              <a:rPr kumimoji="1" lang="zh-CN" altLang="en-US" sz="1800" dirty="0">
                <a:ea typeface="微软雅黑" panose="020B0503020204020204" pitchFamily="34" charset="-122"/>
              </a:rPr>
              <a:t>。</a:t>
            </a:r>
            <a:endParaRPr kumimoji="1" lang="en-US" altLang="zh-CN" sz="1800" dirty="0">
              <a:ea typeface="微软雅黑" panose="020B0503020204020204" pitchFamily="34" charset="-122"/>
            </a:endParaRPr>
          </a:p>
          <a:p>
            <a:pPr>
              <a:lnSpc>
                <a:spcPct val="150000"/>
              </a:lnSpc>
            </a:pPr>
            <a:endParaRPr kumimoji="1" lang="en-US" altLang="zh-CN" sz="1800" dirty="0">
              <a:latin typeface="Arial" panose="020B0604020202020204" pitchFamily="34" charset="0"/>
              <a:ea typeface="微软雅黑" panose="020B0503020204020204" pitchFamily="34" charset="-122"/>
            </a:endParaRPr>
          </a:p>
          <a:p>
            <a:pPr>
              <a:lnSpc>
                <a:spcPct val="150000"/>
              </a:lnSpc>
            </a:pPr>
            <a:r>
              <a:rPr kumimoji="1" lang="en-US" altLang="zh-CN" sz="1800" dirty="0">
                <a:ea typeface="微软雅黑" panose="020B0503020204020204" pitchFamily="34" charset="-122"/>
              </a:rPr>
              <a:t>	</a:t>
            </a:r>
            <a:r>
              <a:rPr kumimoji="1" lang="zh-CN" altLang="en-US" sz="1800" dirty="0">
                <a:ea typeface="微软雅黑" panose="020B0503020204020204" pitchFamily="34" charset="-122"/>
              </a:rPr>
              <a:t>微调（</a:t>
            </a:r>
            <a:r>
              <a:rPr kumimoji="1" lang="en-US" altLang="zh-CN" sz="1800" dirty="0">
                <a:ea typeface="微软雅黑" panose="020B0503020204020204" pitchFamily="34" charset="-122"/>
              </a:rPr>
              <a:t>Fine-tuning</a:t>
            </a:r>
            <a:r>
              <a:rPr kumimoji="1" lang="zh-CN" altLang="en-US" sz="1800" dirty="0">
                <a:ea typeface="微软雅黑" panose="020B0503020204020204" pitchFamily="34" charset="-122"/>
              </a:rPr>
              <a:t>）是在预训练模型的基础上，使用特定任务数据集进行进一步训练，以使模型更好地适应</a:t>
            </a:r>
            <a:r>
              <a:rPr kumimoji="1" lang="zh-CN" altLang="en-US" sz="1800" b="1" dirty="0">
                <a:ea typeface="微软雅黑" panose="020B0503020204020204" pitchFamily="34" charset="-122"/>
              </a:rPr>
              <a:t>特定任务</a:t>
            </a:r>
            <a:r>
              <a:rPr kumimoji="1" lang="zh-CN" altLang="en-US" sz="1800" dirty="0">
                <a:ea typeface="微软雅黑" panose="020B0503020204020204" pitchFamily="34" charset="-122"/>
              </a:rPr>
              <a:t>。</a:t>
            </a:r>
            <a:r>
              <a:rPr kumimoji="1" lang="en-US" altLang="zh-CN" sz="1800" dirty="0">
                <a:ea typeface="微软雅黑" panose="020B0503020204020204" pitchFamily="34" charset="-122"/>
              </a:rPr>
              <a:t>LLM </a:t>
            </a:r>
            <a:r>
              <a:rPr kumimoji="1" lang="zh-CN" altLang="en-US" sz="1800" dirty="0">
                <a:ea typeface="微软雅黑" panose="020B0503020204020204" pitchFamily="34" charset="-122"/>
              </a:rPr>
              <a:t>微调的数据优化是通过各种策略（如数据筛选、增强、采样等）来改进训练数据的质量和效率，以提升模型性能。</a:t>
            </a:r>
            <a:endParaRPr kumimoji="1" lang="zh-CN" altLang="en-US" sz="1800" dirty="0">
              <a:latin typeface="Arial" panose="020B0604020202020204" pitchFamily="34" charset="0"/>
              <a:ea typeface="微软雅黑" panose="020B0503020204020204" pitchFamily="34" charset="-122"/>
            </a:endParaRPr>
          </a:p>
        </p:txBody>
      </p:sp>
      <p:sp>
        <p:nvSpPr>
          <p:cNvPr id="4" name="文本框 3">
            <a:extLst>
              <a:ext uri="{FF2B5EF4-FFF2-40B4-BE49-F238E27FC236}">
                <a16:creationId xmlns:a16="http://schemas.microsoft.com/office/drawing/2014/main" id="{CDAD1CBC-0A82-6442-9734-7A1074BF9720}"/>
              </a:ext>
            </a:extLst>
          </p:cNvPr>
          <p:cNvSpPr txBox="1"/>
          <p:nvPr/>
        </p:nvSpPr>
        <p:spPr>
          <a:xfrm>
            <a:off x="5550435" y="6356015"/>
            <a:ext cx="284052" cy="343235"/>
          </a:xfrm>
          <a:prstGeom prst="rect">
            <a:avLst/>
          </a:prstGeom>
          <a:noFill/>
        </p:spPr>
        <p:txBody>
          <a:bodyPr wrap="none" rtlCol="0">
            <a:spAutoFit/>
          </a:bodyPr>
          <a:lstStyle/>
          <a:p>
            <a:pPr>
              <a:lnSpc>
                <a:spcPct val="130000"/>
              </a:lnSpc>
            </a:pPr>
            <a:r>
              <a:rPr kumimoji="1" lang="en-US" altLang="zh-CN" sz="1400" dirty="0">
                <a:latin typeface="Arial" panose="020B0604020202020204" pitchFamily="34" charset="0"/>
                <a:ea typeface="微软雅黑" panose="020B0503020204020204" pitchFamily="34" charset="-122"/>
              </a:rPr>
              <a:t>3</a:t>
            </a:r>
            <a:endParaRPr kumimoji="1" lang="zh-CN" altLang="en-US" sz="1400" dirty="0">
              <a:latin typeface="Arial" panose="020B0604020202020204" pitchFamily="34" charset="0"/>
              <a:ea typeface="微软雅黑" panose="020B0503020204020204" pitchFamily="34" charset="-122"/>
            </a:endParaRPr>
          </a:p>
        </p:txBody>
      </p:sp>
      <p:pic>
        <p:nvPicPr>
          <p:cNvPr id="5" name="图片 1">
            <a:extLst>
              <a:ext uri="{FF2B5EF4-FFF2-40B4-BE49-F238E27FC236}">
                <a16:creationId xmlns:a16="http://schemas.microsoft.com/office/drawing/2014/main" id="{F00C5D6A-D95A-8A68-A8F0-A737DC5BD95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B683D09-F3C3-374F-8F70-9D988D13C4CF}"/>
              </a:ext>
            </a:extLst>
          </p:cNvPr>
          <p:cNvSpPr/>
          <p:nvPr/>
        </p:nvSpPr>
        <p:spPr>
          <a:xfrm>
            <a:off x="584200" y="273050"/>
            <a:ext cx="4619625" cy="698500"/>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a:lstStyle>
          <a:p>
            <a:r>
              <a:rPr lang="zh-CN" altLang="en-US" dirty="0"/>
              <a:t>研究背景</a:t>
            </a:r>
          </a:p>
        </p:txBody>
      </p:sp>
      <p:sp>
        <p:nvSpPr>
          <p:cNvPr id="4" name="文本框 3">
            <a:extLst>
              <a:ext uri="{FF2B5EF4-FFF2-40B4-BE49-F238E27FC236}">
                <a16:creationId xmlns:a16="http://schemas.microsoft.com/office/drawing/2014/main" id="{6382DA42-DAC7-7940-B9AB-399CA122CE2C}"/>
              </a:ext>
            </a:extLst>
          </p:cNvPr>
          <p:cNvSpPr txBox="1"/>
          <p:nvPr/>
        </p:nvSpPr>
        <p:spPr>
          <a:xfrm>
            <a:off x="675640" y="1093470"/>
            <a:ext cx="10803128" cy="4738092"/>
          </a:xfrm>
          <a:prstGeom prst="rect">
            <a:avLst/>
          </a:prstGeom>
          <a:noFill/>
        </p:spPr>
        <p:txBody>
          <a:bodyPr wrap="square" rtlCol="0">
            <a:spAutoFit/>
          </a:bodyPr>
          <a:lstStyle/>
          <a:p>
            <a:pPr>
              <a:lnSpc>
                <a:spcPct val="130000"/>
              </a:lnSpc>
            </a:pPr>
            <a:r>
              <a:rPr kumimoji="1" lang="en-US" altLang="zh-CN" sz="1800" dirty="0">
                <a:latin typeface="Arial" panose="020B0604020202020204" pitchFamily="34" charset="0"/>
                <a:ea typeface="微软雅黑" panose="020B0503020204020204" pitchFamily="34" charset="-122"/>
              </a:rPr>
              <a:t>LLM </a:t>
            </a:r>
            <a:r>
              <a:rPr kumimoji="1" lang="zh-CN" altLang="en-US" sz="1800" dirty="0">
                <a:latin typeface="Arial" panose="020B0604020202020204" pitchFamily="34" charset="0"/>
                <a:ea typeface="微软雅黑" panose="020B0503020204020204" pitchFamily="34" charset="-122"/>
              </a:rPr>
              <a:t>训练与 </a:t>
            </a:r>
            <a:r>
              <a:rPr kumimoji="1" lang="en-US" altLang="zh-CN" sz="1800" dirty="0">
                <a:latin typeface="Arial" panose="020B0604020202020204" pitchFamily="34" charset="0"/>
                <a:ea typeface="微软雅黑" panose="020B0503020204020204" pitchFamily="34" charset="-122"/>
              </a:rPr>
              <a:t>SFT </a:t>
            </a:r>
            <a:r>
              <a:rPr kumimoji="1" lang="zh-CN" altLang="en-US" sz="1800" dirty="0">
                <a:latin typeface="Arial" panose="020B0604020202020204" pitchFamily="34" charset="0"/>
                <a:ea typeface="微软雅黑" panose="020B0503020204020204" pitchFamily="34" charset="-122"/>
              </a:rPr>
              <a:t>数据优化的一般流程如下。</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zh-CN" altLang="en-US" sz="1800" b="1" dirty="0">
                <a:latin typeface="Arial" panose="020B0604020202020204" pitchFamily="34" charset="0"/>
                <a:ea typeface="微软雅黑" panose="020B0503020204020204" pitchFamily="34" charset="-122"/>
              </a:rPr>
              <a:t>一、</a:t>
            </a:r>
            <a:r>
              <a:rPr kumimoji="1" lang="en-US" altLang="zh-CN" sz="1800" b="1" dirty="0">
                <a:latin typeface="Arial" panose="020B0604020202020204" pitchFamily="34" charset="0"/>
                <a:ea typeface="微软雅黑" panose="020B0503020204020204" pitchFamily="34" charset="-122"/>
              </a:rPr>
              <a:t>LLM </a:t>
            </a:r>
            <a:r>
              <a:rPr kumimoji="1" lang="zh-CN" altLang="en-US" sz="1800" b="1" dirty="0">
                <a:latin typeface="Arial" panose="020B0604020202020204" pitchFamily="34" charset="0"/>
                <a:ea typeface="微软雅黑" panose="020B0503020204020204" pitchFamily="34" charset="-122"/>
              </a:rPr>
              <a:t>的训练</a:t>
            </a:r>
            <a:endParaRPr kumimoji="1" lang="en-US" altLang="zh-CN" sz="1800" b="1"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预训练： </a:t>
            </a:r>
            <a:r>
              <a:rPr kumimoji="1" lang="en-US" altLang="zh-CN" sz="1800" dirty="0">
                <a:latin typeface="Arial" panose="020B0604020202020204" pitchFamily="34" charset="0"/>
                <a:ea typeface="微软雅黑" panose="020B0503020204020204" pitchFamily="34" charset="-122"/>
              </a:rPr>
              <a:t>LLM </a:t>
            </a:r>
            <a:r>
              <a:rPr kumimoji="1" lang="zh-CN" altLang="en-US" sz="1800" dirty="0">
                <a:latin typeface="Arial" panose="020B0604020202020204" pitchFamily="34" charset="0"/>
                <a:ea typeface="微软雅黑" panose="020B0503020204020204" pitchFamily="34" charset="-122"/>
              </a:rPr>
              <a:t>通过无监督学习从海量通用语料库中获取大量通用知识和语言能力。</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en-US" altLang="zh-CN" sz="1800" dirty="0">
                <a:latin typeface="Arial" panose="020B0604020202020204" pitchFamily="34" charset="0"/>
                <a:ea typeface="微软雅黑" panose="020B0503020204020204" pitchFamily="34" charset="-122"/>
              </a:rPr>
              <a:t>SFT</a:t>
            </a:r>
            <a:r>
              <a:rPr kumimoji="1" lang="zh-CN" altLang="en-US" sz="1800" dirty="0">
                <a:latin typeface="Arial" panose="020B0604020202020204" pitchFamily="34" charset="0"/>
                <a:ea typeface="微软雅黑" panose="020B0503020204020204" pitchFamily="34" charset="-122"/>
              </a:rPr>
              <a:t>： 在预训练模型的基础上，使用</a:t>
            </a:r>
            <a:r>
              <a:rPr kumimoji="1" lang="zh-CN" altLang="en-US" sz="1800" b="1" dirty="0">
                <a:latin typeface="Arial" panose="020B0604020202020204" pitchFamily="34" charset="0"/>
                <a:ea typeface="微软雅黑" panose="020B0503020204020204" pitchFamily="34" charset="-122"/>
              </a:rPr>
              <a:t>特定任务</a:t>
            </a:r>
            <a:r>
              <a:rPr kumimoji="1" lang="zh-CN" altLang="en-US" sz="1800" dirty="0">
                <a:latin typeface="Arial" panose="020B0604020202020204" pitchFamily="34" charset="0"/>
                <a:ea typeface="微软雅黑" panose="020B0503020204020204" pitchFamily="34" charset="-122"/>
              </a:rPr>
              <a:t>的标注数据集进行微调，以发展其指令遵循能力并与人类偏好对齐。</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zh-CN" altLang="en-US" sz="1800" b="1" dirty="0">
                <a:latin typeface="Arial" panose="020B0604020202020204" pitchFamily="34" charset="0"/>
                <a:ea typeface="微软雅黑" panose="020B0503020204020204" pitchFamily="34" charset="-122"/>
              </a:rPr>
              <a:t>二、</a:t>
            </a:r>
            <a:r>
              <a:rPr kumimoji="1" lang="en-US" altLang="zh-CN" sz="1800" b="1" dirty="0">
                <a:latin typeface="Arial" panose="020B0604020202020204" pitchFamily="34" charset="0"/>
                <a:ea typeface="微软雅黑" panose="020B0503020204020204" pitchFamily="34" charset="-122"/>
              </a:rPr>
              <a:t>SFT</a:t>
            </a:r>
            <a:r>
              <a:rPr kumimoji="1" lang="zh-CN" altLang="en-US" sz="1800" b="1" dirty="0">
                <a:latin typeface="Arial" panose="020B0604020202020204" pitchFamily="34" charset="0"/>
                <a:ea typeface="微软雅黑" panose="020B0503020204020204" pitchFamily="34" charset="-122"/>
              </a:rPr>
              <a:t>数据优化</a:t>
            </a:r>
            <a:r>
              <a:rPr kumimoji="1" lang="en-US" altLang="zh-CN" sz="1800" b="1" dirty="0">
                <a:latin typeface="Arial" panose="020B0604020202020204" pitchFamily="34" charset="0"/>
                <a:ea typeface="微软雅黑" panose="020B0503020204020204" pitchFamily="34" charset="-122"/>
              </a:rPr>
              <a:t>/</a:t>
            </a:r>
            <a:r>
              <a:rPr kumimoji="1" lang="zh-CN" altLang="en-US" sz="1800" b="1" dirty="0">
                <a:latin typeface="Arial" panose="020B0604020202020204" pitchFamily="34" charset="0"/>
                <a:ea typeface="微软雅黑" panose="020B0503020204020204" pitchFamily="34" charset="-122"/>
              </a:rPr>
              <a:t>选择的典型步骤</a:t>
            </a:r>
            <a:endParaRPr kumimoji="1" lang="en-US" altLang="zh-CN" sz="1800" b="1"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数据收集： 获取原始的指令</a:t>
            </a:r>
            <a:r>
              <a:rPr kumimoji="1" lang="en-US" altLang="zh-CN" sz="1800" dirty="0">
                <a:latin typeface="Arial" panose="020B0604020202020204" pitchFamily="34" charset="0"/>
                <a:ea typeface="微软雅黑" panose="020B0503020204020204" pitchFamily="34" charset="-122"/>
              </a:rPr>
              <a:t>-</a:t>
            </a:r>
            <a:r>
              <a:rPr kumimoji="1" lang="zh-CN" altLang="en-US" sz="1800" dirty="0">
                <a:latin typeface="Arial" panose="020B0604020202020204" pitchFamily="34" charset="0"/>
                <a:ea typeface="微软雅黑" panose="020B0503020204020204" pitchFamily="34" charset="-122"/>
              </a:rPr>
              <a:t>响应对。</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数据评估： 对样本进行质量评估，通常利用奖励模型、启发式规则或小型</a:t>
            </a:r>
            <a:r>
              <a:rPr kumimoji="1" lang="en-US" altLang="zh-CN" sz="1800" dirty="0">
                <a:latin typeface="Arial" panose="020B0604020202020204" pitchFamily="34" charset="0"/>
                <a:ea typeface="微软雅黑" panose="020B0503020204020204" pitchFamily="34" charset="-122"/>
              </a:rPr>
              <a:t>LLM</a:t>
            </a:r>
            <a:r>
              <a:rPr kumimoji="1" lang="zh-CN" altLang="en-US" sz="1800" dirty="0">
                <a:latin typeface="Arial" panose="020B0604020202020204" pitchFamily="34" charset="0"/>
                <a:ea typeface="微软雅黑" panose="020B0503020204020204" pitchFamily="34" charset="-122"/>
              </a:rPr>
              <a:t>进行评分。</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数据筛选</a:t>
            </a:r>
            <a:r>
              <a:rPr kumimoji="1" lang="en-US" altLang="zh-CN" sz="1800" dirty="0">
                <a:latin typeface="Arial" panose="020B0604020202020204" pitchFamily="34" charset="0"/>
                <a:ea typeface="微软雅黑" panose="020B0503020204020204" pitchFamily="34" charset="-122"/>
              </a:rPr>
              <a:t>/</a:t>
            </a:r>
            <a:r>
              <a:rPr kumimoji="1" lang="zh-CN" altLang="en-US" sz="1800" dirty="0">
                <a:latin typeface="Arial" panose="020B0604020202020204" pitchFamily="34" charset="0"/>
                <a:ea typeface="微软雅黑" panose="020B0503020204020204" pitchFamily="34" charset="-122"/>
              </a:rPr>
              <a:t>增强：</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筛选： 根据评估结果过滤掉</a:t>
            </a:r>
            <a:r>
              <a:rPr kumimoji="1" lang="zh-CN" altLang="en-US" sz="1800" b="1" dirty="0">
                <a:latin typeface="Arial" panose="020B0604020202020204" pitchFamily="34" charset="0"/>
                <a:ea typeface="微软雅黑" panose="020B0503020204020204" pitchFamily="34" charset="-122"/>
              </a:rPr>
              <a:t>低质量或不相关的</a:t>
            </a:r>
            <a:r>
              <a:rPr kumimoji="1" lang="zh-CN" altLang="en-US" sz="1800" dirty="0">
                <a:latin typeface="Arial" panose="020B0604020202020204" pitchFamily="34" charset="0"/>
                <a:ea typeface="微软雅黑" panose="020B0503020204020204" pitchFamily="34" charset="-122"/>
              </a:rPr>
              <a:t>样本。</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增强： 通过生成新的、多样化的样本来</a:t>
            </a:r>
            <a:r>
              <a:rPr kumimoji="1" lang="zh-CN" altLang="en-US" sz="1800" b="1" dirty="0">
                <a:latin typeface="Arial" panose="020B0604020202020204" pitchFamily="34" charset="0"/>
                <a:ea typeface="微软雅黑" panose="020B0503020204020204" pitchFamily="34" charset="-122"/>
              </a:rPr>
              <a:t>扩充</a:t>
            </a:r>
            <a:r>
              <a:rPr kumimoji="1" lang="zh-CN" altLang="en-US" sz="1800" dirty="0">
                <a:latin typeface="Arial" panose="020B0604020202020204" pitchFamily="34" charset="0"/>
                <a:ea typeface="微软雅黑" panose="020B0503020204020204" pitchFamily="34" charset="-122"/>
              </a:rPr>
              <a:t>数据集。</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en-US" altLang="zh-CN" sz="1800" dirty="0">
                <a:latin typeface="Arial" panose="020B0604020202020204" pitchFamily="34" charset="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模型微调： 使用优化后的</a:t>
            </a:r>
            <a:r>
              <a:rPr kumimoji="1" lang="en-US" altLang="zh-CN" sz="1800" dirty="0">
                <a:latin typeface="Arial" panose="020B0604020202020204" pitchFamily="34" charset="0"/>
                <a:ea typeface="微软雅黑" panose="020B0503020204020204" pitchFamily="34" charset="-122"/>
              </a:rPr>
              <a:t>SFT</a:t>
            </a:r>
            <a:r>
              <a:rPr kumimoji="1" lang="zh-CN" altLang="en-US" sz="1800" dirty="0">
                <a:latin typeface="Arial" panose="020B0604020202020204" pitchFamily="34" charset="0"/>
                <a:ea typeface="微软雅黑" panose="020B0503020204020204" pitchFamily="34" charset="-122"/>
              </a:rPr>
              <a:t>数据集对 </a:t>
            </a:r>
            <a:r>
              <a:rPr kumimoji="1" lang="en-US" altLang="zh-CN" sz="1800" dirty="0">
                <a:latin typeface="Arial" panose="020B0604020202020204" pitchFamily="34" charset="0"/>
                <a:ea typeface="微软雅黑" panose="020B0503020204020204" pitchFamily="34" charset="-122"/>
              </a:rPr>
              <a:t>LLM </a:t>
            </a:r>
            <a:r>
              <a:rPr kumimoji="1" lang="zh-CN" altLang="en-US" sz="1800" dirty="0">
                <a:latin typeface="Arial" panose="020B0604020202020204" pitchFamily="34" charset="0"/>
                <a:ea typeface="微软雅黑" panose="020B0503020204020204" pitchFamily="34" charset="-122"/>
              </a:rPr>
              <a:t>进行训练。</a:t>
            </a:r>
            <a:endParaRPr kumimoji="1" lang="en-US" altLang="zh-CN" sz="1800" dirty="0">
              <a:latin typeface="Arial" panose="020B0604020202020204" pitchFamily="34" charset="0"/>
              <a:ea typeface="微软雅黑" panose="020B0503020204020204" pitchFamily="34" charset="-122"/>
            </a:endParaRPr>
          </a:p>
          <a:p>
            <a:pPr>
              <a:lnSpc>
                <a:spcPct val="130000"/>
              </a:lnSpc>
            </a:pPr>
            <a:r>
              <a:rPr kumimoji="1" lang="en-US" altLang="zh-CN" sz="1800" dirty="0">
                <a:ea typeface="微软雅黑" panose="020B0503020204020204" pitchFamily="34" charset="-122"/>
              </a:rPr>
              <a:t>	</a:t>
            </a:r>
            <a:r>
              <a:rPr kumimoji="1" lang="zh-CN" altLang="en-US" sz="1800" dirty="0">
                <a:latin typeface="Arial" panose="020B0604020202020204" pitchFamily="34" charset="0"/>
                <a:ea typeface="微软雅黑" panose="020B0503020204020204" pitchFamily="34" charset="-122"/>
              </a:rPr>
              <a:t>评估： 在各种基准测试集上评估微调后的 </a:t>
            </a:r>
            <a:r>
              <a:rPr kumimoji="1" lang="en-US" altLang="zh-CN" sz="1800" dirty="0">
                <a:latin typeface="Arial" panose="020B0604020202020204" pitchFamily="34" charset="0"/>
                <a:ea typeface="微软雅黑" panose="020B0503020204020204" pitchFamily="34" charset="-122"/>
              </a:rPr>
              <a:t>LLM </a:t>
            </a:r>
            <a:r>
              <a:rPr kumimoji="1" lang="zh-CN" altLang="en-US" sz="1800" dirty="0">
                <a:latin typeface="Arial" panose="020B0604020202020204" pitchFamily="34" charset="0"/>
                <a:ea typeface="微软雅黑" panose="020B0503020204020204" pitchFamily="34" charset="-122"/>
              </a:rPr>
              <a:t>性能。</a:t>
            </a:r>
          </a:p>
        </p:txBody>
      </p:sp>
      <p:sp>
        <p:nvSpPr>
          <p:cNvPr id="5" name="文本框 4">
            <a:extLst>
              <a:ext uri="{FF2B5EF4-FFF2-40B4-BE49-F238E27FC236}">
                <a16:creationId xmlns:a16="http://schemas.microsoft.com/office/drawing/2014/main" id="{0A4C1916-708C-DB44-817A-0EE4FF899AA4}"/>
              </a:ext>
            </a:extLst>
          </p:cNvPr>
          <p:cNvSpPr txBox="1"/>
          <p:nvPr/>
        </p:nvSpPr>
        <p:spPr>
          <a:xfrm>
            <a:off x="5408175" y="6439709"/>
            <a:ext cx="284052" cy="343235"/>
          </a:xfrm>
          <a:prstGeom prst="rect">
            <a:avLst/>
          </a:prstGeom>
          <a:noFill/>
        </p:spPr>
        <p:txBody>
          <a:bodyPr wrap="none" rtlCol="0">
            <a:spAutoFit/>
          </a:bodyPr>
          <a:lstStyle/>
          <a:p>
            <a:pPr>
              <a:lnSpc>
                <a:spcPct val="130000"/>
              </a:lnSpc>
            </a:pPr>
            <a:r>
              <a:rPr kumimoji="1" lang="en-US" altLang="zh-CN" sz="1400" dirty="0">
                <a:ea typeface="微软雅黑" panose="020B0503020204020204" pitchFamily="34" charset="-122"/>
              </a:rPr>
              <a:t>4</a:t>
            </a:r>
            <a:endParaRPr kumimoji="1" lang="zh-CN" altLang="en-US" sz="1400" dirty="0">
              <a:latin typeface="Arial" panose="020B0604020202020204" pitchFamily="34" charset="0"/>
              <a:ea typeface="微软雅黑" panose="020B0503020204020204" pitchFamily="34" charset="-122"/>
            </a:endParaRPr>
          </a:p>
        </p:txBody>
      </p:sp>
      <p:pic>
        <p:nvPicPr>
          <p:cNvPr id="2" name="图片 1">
            <a:extLst>
              <a:ext uri="{FF2B5EF4-FFF2-40B4-BE49-F238E27FC236}">
                <a16:creationId xmlns:a16="http://schemas.microsoft.com/office/drawing/2014/main" id="{2F9C10F6-A509-5502-201A-35BA772C70F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504714" y="0"/>
            <a:ext cx="1687286" cy="1697966"/>
          </a:xfrm>
          <a:prstGeom prst="rect">
            <a:avLst/>
          </a:prstGeom>
        </p:spPr>
      </p:pic>
    </p:spTree>
    <p:extLst>
      <p:ext uri="{BB962C8B-B14F-4D97-AF65-F5344CB8AC3E}">
        <p14:creationId xmlns:p14="http://schemas.microsoft.com/office/powerpoint/2010/main" val="4137765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solidFill>
            <a:srgbClr val="358CC1"/>
          </a:solidFill>
        </p:spPr>
        <p:txBody>
          <a:bodyPr/>
          <a:lstStyle/>
          <a:p>
            <a:r>
              <a:rPr lang="zh-CN" altLang="zh-CN" dirty="0">
                <a:latin typeface="+mj-lt"/>
                <a:ea typeface="+mj-ea"/>
              </a:rPr>
              <a:t>研</a:t>
            </a:r>
            <a:r>
              <a:rPr lang="en-US" altLang="zh-CN" dirty="0">
                <a:latin typeface="+mj-lt"/>
                <a:ea typeface="+mj-ea"/>
              </a:rPr>
              <a:t> </a:t>
            </a:r>
            <a:r>
              <a:rPr lang="zh-CN" altLang="zh-CN" dirty="0">
                <a:latin typeface="+mj-lt"/>
                <a:ea typeface="+mj-ea"/>
              </a:rPr>
              <a:t>究</a:t>
            </a:r>
            <a:r>
              <a:rPr lang="en-US" altLang="zh-CN" dirty="0">
                <a:latin typeface="+mj-lt"/>
                <a:ea typeface="+mj-ea"/>
              </a:rPr>
              <a:t> </a:t>
            </a:r>
            <a:r>
              <a:rPr lang="zh-CN" altLang="en-US" dirty="0">
                <a:latin typeface="+mj-lt"/>
                <a:ea typeface="+mj-ea"/>
              </a:rPr>
              <a:t>现 状</a:t>
            </a:r>
            <a:endParaRPr lang="zh-CN" altLang="zh-CN" dirty="0">
              <a:latin typeface="+mj-lt"/>
              <a:ea typeface="+mj-ea"/>
            </a:endParaRPr>
          </a:p>
        </p:txBody>
      </p:sp>
      <p:pic>
        <p:nvPicPr>
          <p:cNvPr id="16" name="图片 15" descr="校徽"/>
          <p:cNvPicPr>
            <a:picLocks noChangeAspect="1"/>
          </p:cNvPicPr>
          <p:nvPr/>
        </p:nvPicPr>
        <p:blipFill>
          <a:blip r:embed="rId5"/>
          <a:stretch>
            <a:fillRect/>
          </a:stretch>
        </p:blipFill>
        <p:spPr>
          <a:xfrm>
            <a:off x="10744200" y="158750"/>
            <a:ext cx="1287780" cy="1287780"/>
          </a:xfrm>
          <a:prstGeom prst="rect">
            <a:avLst/>
          </a:prstGeom>
        </p:spPr>
      </p:pic>
      <p:sp>
        <p:nvSpPr>
          <p:cNvPr id="3" name="文本框 2">
            <a:extLst>
              <a:ext uri="{FF2B5EF4-FFF2-40B4-BE49-F238E27FC236}">
                <a16:creationId xmlns:a16="http://schemas.microsoft.com/office/drawing/2014/main" id="{F2447143-3AD2-D041-B332-FAD42128550C}"/>
              </a:ext>
            </a:extLst>
          </p:cNvPr>
          <p:cNvSpPr txBox="1"/>
          <p:nvPr/>
        </p:nvSpPr>
        <p:spPr>
          <a:xfrm>
            <a:off x="5811948" y="6303750"/>
            <a:ext cx="284052" cy="343235"/>
          </a:xfrm>
          <a:prstGeom prst="rect">
            <a:avLst/>
          </a:prstGeom>
          <a:noFill/>
        </p:spPr>
        <p:txBody>
          <a:bodyPr wrap="none" rtlCol="0">
            <a:spAutoFit/>
          </a:bodyPr>
          <a:lstStyle/>
          <a:p>
            <a:pPr>
              <a:lnSpc>
                <a:spcPct val="130000"/>
              </a:lnSpc>
            </a:pPr>
            <a:r>
              <a:rPr kumimoji="1" lang="en-US" altLang="zh-CN" sz="1400" dirty="0">
                <a:ea typeface="微软雅黑" panose="020B0503020204020204" pitchFamily="34" charset="-122"/>
              </a:rPr>
              <a:t>5</a:t>
            </a:r>
            <a:endParaRPr kumimoji="1" lang="zh-CN" altLang="en-US" sz="1400" dirty="0">
              <a:latin typeface="Arial" panose="020B0604020202020204" pitchFamily="34" charset="0"/>
              <a:ea typeface="微软雅黑" panose="020B0503020204020204" pitchFamily="34" charset="-122"/>
            </a:endParaRPr>
          </a:p>
        </p:txBody>
      </p:sp>
      <p:pic>
        <p:nvPicPr>
          <p:cNvPr id="4" name="图片 1">
            <a:extLst>
              <a:ext uri="{FF2B5EF4-FFF2-40B4-BE49-F238E27FC236}">
                <a16:creationId xmlns:a16="http://schemas.microsoft.com/office/drawing/2014/main" id="{007A964C-4D55-D86A-C9DE-57EA9DAD401E}"/>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a:xfrm>
            <a:off x="584200" y="273050"/>
            <a:ext cx="4619625" cy="698500"/>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a:lstStyle>
          <a:p>
            <a:r>
              <a:rPr lang="zh-CN" altLang="en-US" dirty="0"/>
              <a:t>研究现状</a:t>
            </a:r>
          </a:p>
        </p:txBody>
      </p:sp>
      <p:pic>
        <p:nvPicPr>
          <p:cNvPr id="16" name="图片 15" descr="校徽"/>
          <p:cNvPicPr>
            <a:picLocks noChangeAspect="1"/>
          </p:cNvPicPr>
          <p:nvPr/>
        </p:nvPicPr>
        <p:blipFill>
          <a:blip r:embed="rId4"/>
          <a:stretch>
            <a:fillRect/>
          </a:stretch>
        </p:blipFill>
        <p:spPr>
          <a:xfrm>
            <a:off x="10744200" y="158750"/>
            <a:ext cx="1287780" cy="1287780"/>
          </a:xfrm>
          <a:prstGeom prst="rect">
            <a:avLst/>
          </a:prstGeom>
        </p:spPr>
      </p:pic>
      <p:sp>
        <p:nvSpPr>
          <p:cNvPr id="5" name="文本框 4"/>
          <p:cNvSpPr txBox="1"/>
          <p:nvPr/>
        </p:nvSpPr>
        <p:spPr>
          <a:xfrm>
            <a:off x="810895" y="1446530"/>
            <a:ext cx="10455275" cy="4852034"/>
          </a:xfrm>
          <a:prstGeom prst="rect">
            <a:avLst/>
          </a:prstGeom>
          <a:noFill/>
        </p:spPr>
        <p:txBody>
          <a:bodyPr wrap="square" rtlCol="0">
            <a:spAutoFit/>
          </a:bodyPr>
          <a:lstStyle/>
          <a:p>
            <a:pPr>
              <a:lnSpc>
                <a:spcPct val="130000"/>
              </a:lnSpc>
            </a:pPr>
            <a:r>
              <a:rPr lang="en-US" altLang="zh-CN" sz="2000" dirty="0">
                <a:ea typeface="微软雅黑" panose="020B0503020204020204" pitchFamily="34" charset="-122"/>
              </a:rPr>
              <a:t>LLM </a:t>
            </a:r>
            <a:r>
              <a:rPr lang="zh-CN" altLang="en-US" sz="2000" dirty="0">
                <a:ea typeface="微软雅黑" panose="020B0503020204020204" pitchFamily="34" charset="-122"/>
              </a:rPr>
              <a:t>微调数据优化方法主要可分为两类：</a:t>
            </a:r>
            <a:endParaRPr lang="en-US" altLang="zh-CN" sz="2000" dirty="0">
              <a:ea typeface="微软雅黑" panose="020B0503020204020204" pitchFamily="34" charset="-122"/>
            </a:endParaRPr>
          </a:p>
          <a:p>
            <a:pPr>
              <a:lnSpc>
                <a:spcPct val="130000"/>
              </a:lnSpc>
            </a:pPr>
            <a:endParaRPr lang="en-US" altLang="zh-CN" sz="2000" dirty="0">
              <a:ea typeface="微软雅黑" panose="020B0503020204020204" pitchFamily="34" charset="-122"/>
            </a:endParaRPr>
          </a:p>
          <a:p>
            <a:pPr>
              <a:lnSpc>
                <a:spcPct val="130000"/>
              </a:lnSpc>
            </a:pPr>
            <a:r>
              <a:rPr lang="zh-CN" altLang="en-US" sz="2000" dirty="0">
                <a:ea typeface="微软雅黑" panose="020B0503020204020204" pitchFamily="34" charset="-122"/>
              </a:rPr>
              <a:t>一、基于复杂数据</a:t>
            </a:r>
            <a:r>
              <a:rPr lang="zh-CN" altLang="en-US" sz="2000" b="1" dirty="0">
                <a:ea typeface="微软雅黑" panose="020B0503020204020204" pitchFamily="34" charset="-122"/>
              </a:rPr>
              <a:t>过滤</a:t>
            </a:r>
            <a:r>
              <a:rPr lang="zh-CN" altLang="en-US" sz="2000" dirty="0">
                <a:ea typeface="微软雅黑" panose="020B0503020204020204" pitchFamily="34" charset="-122"/>
              </a:rPr>
              <a:t>策略的方法，利用复杂的</a:t>
            </a:r>
            <a:r>
              <a:rPr lang="zh-CN" altLang="en-US" sz="2000" b="1" dirty="0">
                <a:ea typeface="微软雅黑" panose="020B0503020204020204" pitchFamily="34" charset="-122"/>
              </a:rPr>
              <a:t>人工启发式</a:t>
            </a:r>
            <a:r>
              <a:rPr lang="zh-CN" altLang="en-US" sz="2000" dirty="0">
                <a:ea typeface="微软雅黑" panose="020B0503020204020204" pitchFamily="34" charset="-122"/>
              </a:rPr>
              <a:t>数据过滤机制来提取信息丰富的样本，或依赖较强的 </a:t>
            </a:r>
            <a:r>
              <a:rPr lang="en-US" altLang="zh-CN" sz="2000" dirty="0">
                <a:ea typeface="微软雅黑" panose="020B0503020204020204" pitchFamily="34" charset="-122"/>
              </a:rPr>
              <a:t>LLM </a:t>
            </a:r>
            <a:r>
              <a:rPr lang="zh-CN" altLang="en-US" sz="2000" dirty="0">
                <a:ea typeface="微软雅黑" panose="020B0503020204020204" pitchFamily="34" charset="-122"/>
              </a:rPr>
              <a:t>（ 如</a:t>
            </a:r>
            <a:r>
              <a:rPr lang="en-US" altLang="zh-CN" sz="2000" dirty="0">
                <a:ea typeface="微软雅黑" panose="020B0503020204020204" pitchFamily="34" charset="-122"/>
              </a:rPr>
              <a:t>GPT-4 </a:t>
            </a:r>
            <a:r>
              <a:rPr lang="zh-CN" altLang="en-US" sz="2000" dirty="0">
                <a:ea typeface="微软雅黑" panose="020B0503020204020204" pitchFamily="34" charset="-122"/>
              </a:rPr>
              <a:t>）进行数据</a:t>
            </a:r>
            <a:r>
              <a:rPr lang="zh-CN" altLang="en-US" sz="2000" b="1" dirty="0">
                <a:ea typeface="微软雅黑" panose="020B0503020204020204" pitchFamily="34" charset="-122"/>
              </a:rPr>
              <a:t>评分和筛选</a:t>
            </a:r>
            <a:r>
              <a:rPr lang="zh-CN" altLang="en-US" sz="2000" dirty="0">
                <a:ea typeface="微软雅黑" panose="020B0503020204020204" pitchFamily="34" charset="-122"/>
              </a:rPr>
              <a:t>。</a:t>
            </a:r>
            <a:endParaRPr lang="en-US" altLang="zh-CN" sz="2000" dirty="0">
              <a:ea typeface="微软雅黑" panose="020B0503020204020204" pitchFamily="34" charset="-122"/>
            </a:endParaRPr>
          </a:p>
          <a:p>
            <a:pPr>
              <a:lnSpc>
                <a:spcPct val="130000"/>
              </a:lnSpc>
            </a:pPr>
            <a:endParaRPr lang="en-US" altLang="zh-CN" sz="2000" dirty="0">
              <a:ea typeface="微软雅黑" panose="020B0503020204020204" pitchFamily="34" charset="-122"/>
            </a:endParaRPr>
          </a:p>
          <a:p>
            <a:pPr>
              <a:lnSpc>
                <a:spcPct val="130000"/>
              </a:lnSpc>
            </a:pPr>
            <a:r>
              <a:rPr lang="zh-CN" altLang="en-US" sz="2000" dirty="0">
                <a:ea typeface="微软雅黑" panose="020B0503020204020204" pitchFamily="34" charset="-122"/>
              </a:rPr>
              <a:t>二、基于</a:t>
            </a:r>
            <a:r>
              <a:rPr lang="zh-CN" altLang="en-US" sz="2000" b="1" dirty="0">
                <a:ea typeface="微软雅黑" panose="020B0503020204020204" pitchFamily="34" charset="-122"/>
              </a:rPr>
              <a:t>人工标注</a:t>
            </a:r>
            <a:r>
              <a:rPr lang="zh-CN" altLang="en-US" sz="2000" dirty="0">
                <a:ea typeface="微软雅黑" panose="020B0503020204020204" pitchFamily="34" charset="-122"/>
              </a:rPr>
              <a:t>高质量数据的方法，依赖人类标注者生成高质量的指令</a:t>
            </a:r>
            <a:r>
              <a:rPr lang="en-US" altLang="zh-CN" sz="2000" dirty="0">
                <a:ea typeface="微软雅黑" panose="020B0503020204020204" pitchFamily="34" charset="-122"/>
              </a:rPr>
              <a:t>-</a:t>
            </a:r>
            <a:r>
              <a:rPr lang="zh-CN" altLang="en-US" sz="2000" dirty="0">
                <a:ea typeface="微软雅黑" panose="020B0503020204020204" pitchFamily="34" charset="-122"/>
              </a:rPr>
              <a:t>响应对，或通过提示较强的 </a:t>
            </a:r>
            <a:r>
              <a:rPr lang="en-US" altLang="zh-CN" sz="2000" b="1" dirty="0">
                <a:ea typeface="微软雅黑" panose="020B0503020204020204" pitchFamily="34" charset="-122"/>
              </a:rPr>
              <a:t>LLM </a:t>
            </a:r>
            <a:r>
              <a:rPr lang="zh-CN" altLang="en-US" sz="2000" b="1" dirty="0">
                <a:ea typeface="微软雅黑" panose="020B0503020204020204" pitchFamily="34" charset="-122"/>
              </a:rPr>
              <a:t>生成</a:t>
            </a:r>
            <a:r>
              <a:rPr lang="zh-CN" altLang="en-US" sz="2000" dirty="0">
                <a:ea typeface="微软雅黑" panose="020B0503020204020204" pitchFamily="34" charset="-122"/>
              </a:rPr>
              <a:t>合成数据。</a:t>
            </a:r>
            <a:endParaRPr lang="en-US" altLang="zh-CN" sz="2000" dirty="0">
              <a:ea typeface="微软雅黑" panose="020B0503020204020204" pitchFamily="34" charset="-122"/>
            </a:endParaRPr>
          </a:p>
          <a:p>
            <a:pPr>
              <a:lnSpc>
                <a:spcPct val="130000"/>
              </a:lnSpc>
            </a:pPr>
            <a:endParaRPr lang="en-US" altLang="zh-CN" sz="2000" dirty="0">
              <a:ea typeface="微软雅黑" panose="020B0503020204020204" pitchFamily="34" charset="-122"/>
            </a:endParaRPr>
          </a:p>
          <a:p>
            <a:pPr>
              <a:lnSpc>
                <a:spcPct val="130000"/>
              </a:lnSpc>
            </a:pPr>
            <a:r>
              <a:rPr lang="zh-CN" altLang="en-US" sz="2000" dirty="0">
                <a:ea typeface="微软雅黑" panose="020B0503020204020204" pitchFamily="34" charset="-122"/>
              </a:rPr>
              <a:t>这些方法通常成本高昂，且可能引入偏见，降低数据多样性，限制了可扩展性。</a:t>
            </a:r>
            <a:endParaRPr lang="en-US" altLang="zh-CN" sz="2000" dirty="0">
              <a:ea typeface="微软雅黑" panose="020B0503020204020204" pitchFamily="34" charset="-122"/>
            </a:endParaRPr>
          </a:p>
          <a:p>
            <a:pPr>
              <a:lnSpc>
                <a:spcPct val="130000"/>
              </a:lnSpc>
            </a:pPr>
            <a:endParaRPr lang="en-US" altLang="zh-CN" sz="2000" dirty="0">
              <a:ea typeface="微软雅黑" panose="020B0503020204020204" pitchFamily="34" charset="-122"/>
            </a:endParaRPr>
          </a:p>
          <a:p>
            <a:pPr>
              <a:lnSpc>
                <a:spcPct val="130000"/>
              </a:lnSpc>
            </a:pPr>
            <a:r>
              <a:rPr lang="en-US" altLang="zh-CN" sz="2000" dirty="0">
                <a:ea typeface="微软雅黑" panose="020B0503020204020204" pitchFamily="34" charset="-122"/>
              </a:rPr>
              <a:t>			</a:t>
            </a:r>
            <a:r>
              <a:rPr lang="zh-CN" altLang="en-US" sz="2000" dirty="0">
                <a:ea typeface="微软雅黑" panose="020B0503020204020204" pitchFamily="34" charset="-122"/>
              </a:rPr>
              <a:t>             </a:t>
            </a:r>
            <a:endParaRPr lang="en-US" altLang="zh-CN" sz="2000" dirty="0">
              <a:latin typeface="Arial" panose="020B0604020202020204" pitchFamily="34" charset="0"/>
              <a:ea typeface="微软雅黑" panose="020B0503020204020204" pitchFamily="34" charset="-122"/>
            </a:endParaRPr>
          </a:p>
          <a:p>
            <a:pPr>
              <a:lnSpc>
                <a:spcPct val="130000"/>
              </a:lnSpc>
            </a:pPr>
            <a:r>
              <a:rPr lang="en-US" altLang="zh-CN" sz="2000" dirty="0">
                <a:ea typeface="微软雅黑" panose="020B0503020204020204" pitchFamily="34" charset="-122"/>
              </a:rPr>
              <a:t>       </a:t>
            </a:r>
            <a:endParaRPr lang="en-US" altLang="zh-CN" sz="2000" dirty="0">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AFB10BF2-FEE3-C945-A23B-57BD4CBFCC8B}"/>
              </a:ext>
            </a:extLst>
          </p:cNvPr>
          <p:cNvSpPr txBox="1"/>
          <p:nvPr/>
        </p:nvSpPr>
        <p:spPr>
          <a:xfrm>
            <a:off x="5326917" y="6355438"/>
            <a:ext cx="284052" cy="343235"/>
          </a:xfrm>
          <a:prstGeom prst="rect">
            <a:avLst/>
          </a:prstGeom>
          <a:noFill/>
        </p:spPr>
        <p:txBody>
          <a:bodyPr wrap="none" rtlCol="0">
            <a:spAutoFit/>
          </a:bodyPr>
          <a:lstStyle/>
          <a:p>
            <a:pPr>
              <a:lnSpc>
                <a:spcPct val="130000"/>
              </a:lnSpc>
            </a:pPr>
            <a:r>
              <a:rPr kumimoji="1" lang="en-US" altLang="zh-CN" sz="1400" dirty="0">
                <a:latin typeface="Arial" panose="020B0604020202020204" pitchFamily="34" charset="0"/>
                <a:ea typeface="微软雅黑" panose="020B0503020204020204" pitchFamily="34" charset="-122"/>
              </a:rPr>
              <a:t>6</a:t>
            </a:r>
            <a:endParaRPr kumimoji="1" lang="zh-CN" altLang="en-US" sz="1400" dirty="0">
              <a:latin typeface="Arial" panose="020B0604020202020204" pitchFamily="34" charset="0"/>
              <a:ea typeface="微软雅黑" panose="020B0503020204020204" pitchFamily="34" charset="-122"/>
            </a:endParaRPr>
          </a:p>
        </p:txBody>
      </p:sp>
      <p:pic>
        <p:nvPicPr>
          <p:cNvPr id="4" name="图片 1">
            <a:extLst>
              <a:ext uri="{FF2B5EF4-FFF2-40B4-BE49-F238E27FC236}">
                <a16:creationId xmlns:a16="http://schemas.microsoft.com/office/drawing/2014/main" id="{7C2E8080-456F-B17E-C43A-6ADA4B87251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solidFill>
            <a:srgbClr val="358CC1"/>
          </a:solidFill>
        </p:spPr>
        <p:txBody>
          <a:bodyPr/>
          <a:lstStyle/>
          <a:p>
            <a:pPr>
              <a:spcBef>
                <a:spcPts val="0"/>
              </a:spcBef>
              <a:spcAft>
                <a:spcPts val="0"/>
              </a:spcAft>
              <a:defRPr/>
            </a:pPr>
            <a:r>
              <a:rPr lang="zh-CN" altLang="en-US" dirty="0"/>
              <a:t>相 关 工 作</a:t>
            </a:r>
          </a:p>
        </p:txBody>
      </p:sp>
      <p:pic>
        <p:nvPicPr>
          <p:cNvPr id="16" name="图片 15" descr="校徽"/>
          <p:cNvPicPr>
            <a:picLocks noChangeAspect="1"/>
          </p:cNvPicPr>
          <p:nvPr/>
        </p:nvPicPr>
        <p:blipFill>
          <a:blip r:embed="rId5"/>
          <a:stretch>
            <a:fillRect/>
          </a:stretch>
        </p:blipFill>
        <p:spPr>
          <a:xfrm>
            <a:off x="10744200" y="158750"/>
            <a:ext cx="1287780" cy="1287780"/>
          </a:xfrm>
          <a:prstGeom prst="rect">
            <a:avLst/>
          </a:prstGeom>
        </p:spPr>
      </p:pic>
      <p:sp>
        <p:nvSpPr>
          <p:cNvPr id="4" name="文本框 3">
            <a:extLst>
              <a:ext uri="{FF2B5EF4-FFF2-40B4-BE49-F238E27FC236}">
                <a16:creationId xmlns:a16="http://schemas.microsoft.com/office/drawing/2014/main" id="{DF086D05-0B8F-4D97-B5A0-26507541ECB1}"/>
              </a:ext>
            </a:extLst>
          </p:cNvPr>
          <p:cNvSpPr txBox="1"/>
          <p:nvPr/>
        </p:nvSpPr>
        <p:spPr>
          <a:xfrm>
            <a:off x="5715001" y="6265985"/>
            <a:ext cx="257908" cy="343235"/>
          </a:xfrm>
          <a:prstGeom prst="rect">
            <a:avLst/>
          </a:prstGeom>
          <a:noFill/>
        </p:spPr>
        <p:txBody>
          <a:bodyPr wrap="square" rtlCol="0">
            <a:spAutoFit/>
          </a:bodyPr>
          <a:lstStyle/>
          <a:p>
            <a:pPr>
              <a:lnSpc>
                <a:spcPct val="130000"/>
              </a:lnSpc>
            </a:pPr>
            <a:r>
              <a:rPr lang="en-US" altLang="zh-CN" sz="1400" dirty="0">
                <a:latin typeface="Arial" panose="020B0604020202020204" pitchFamily="34" charset="0"/>
                <a:ea typeface="微软雅黑" panose="020B0503020204020204" pitchFamily="34" charset="-122"/>
              </a:rPr>
              <a:t>7</a:t>
            </a:r>
            <a:endParaRPr lang="zh-CN" altLang="en-US" sz="1400" dirty="0">
              <a:latin typeface="Arial" panose="020B0604020202020204" pitchFamily="34" charset="0"/>
              <a:ea typeface="微软雅黑" panose="020B0503020204020204" pitchFamily="34" charset="-122"/>
            </a:endParaRPr>
          </a:p>
        </p:txBody>
      </p:sp>
      <p:pic>
        <p:nvPicPr>
          <p:cNvPr id="3" name="图片 1">
            <a:extLst>
              <a:ext uri="{FF2B5EF4-FFF2-40B4-BE49-F238E27FC236}">
                <a16:creationId xmlns:a16="http://schemas.microsoft.com/office/drawing/2014/main" id="{4B4B3521-BF7C-9FEB-CFD7-572F99D63B7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a:xfrm>
            <a:off x="584200" y="273050"/>
            <a:ext cx="4619625" cy="698500"/>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a:lstStyle>
          <a:p>
            <a:r>
              <a:rPr lang="zh-CN" altLang="en-US" dirty="0"/>
              <a:t>相关工作</a:t>
            </a:r>
          </a:p>
        </p:txBody>
      </p:sp>
      <p:pic>
        <p:nvPicPr>
          <p:cNvPr id="16" name="图片 15" descr="校徽"/>
          <p:cNvPicPr>
            <a:picLocks noChangeAspect="1"/>
          </p:cNvPicPr>
          <p:nvPr/>
        </p:nvPicPr>
        <p:blipFill>
          <a:blip r:embed="rId4"/>
          <a:stretch>
            <a:fillRect/>
          </a:stretch>
        </p:blipFill>
        <p:spPr>
          <a:xfrm>
            <a:off x="10771221" y="273050"/>
            <a:ext cx="1287780" cy="1287780"/>
          </a:xfrm>
          <a:prstGeom prst="rect">
            <a:avLst/>
          </a:prstGeom>
        </p:spPr>
      </p:pic>
      <p:sp>
        <p:nvSpPr>
          <p:cNvPr id="6" name="文本框 5"/>
          <p:cNvSpPr txBox="1"/>
          <p:nvPr/>
        </p:nvSpPr>
        <p:spPr>
          <a:xfrm>
            <a:off x="776889" y="5876925"/>
            <a:ext cx="10320602" cy="624595"/>
          </a:xfrm>
          <a:prstGeom prst="rect">
            <a:avLst/>
          </a:prstGeom>
          <a:noFill/>
        </p:spPr>
        <p:txBody>
          <a:bodyPr wrap="square" rtlCol="0">
            <a:spAutoFit/>
          </a:bodyPr>
          <a:lstStyle/>
          <a:p>
            <a:pPr>
              <a:lnSpc>
                <a:spcPct val="13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Ming Li, Yong Zhang,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Zhitao</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Li,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Jiuhai</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Chen,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Lichang</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Chen, Ning Cheng,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Jianzong</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Wang, Tianyi Zhou, and Jing Xiao. From quantity to quality: Boosting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llm</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performance with self-guided data selection for instruction tuning. In NAACL, 2023.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776889" y="871218"/>
            <a:ext cx="8953927" cy="1002582"/>
          </a:xfrm>
          <a:prstGeom prst="rect">
            <a:avLst/>
          </a:prstGeom>
          <a:noFill/>
        </p:spPr>
        <p:txBody>
          <a:bodyPr wrap="square" rtlCol="0">
            <a:spAutoFit/>
          </a:bodyPr>
          <a:lstStyle/>
          <a:p>
            <a:pPr>
              <a:lnSpc>
                <a:spcPct val="130000"/>
              </a:lnSpc>
            </a:pPr>
            <a:r>
              <a:rPr lang="en-US" altLang="zh-CN" b="1" dirty="0"/>
              <a:t>From Quantity to Quality: Boosting LLM Performance with Self-Guided Data Selection for Instruction Tuning</a:t>
            </a:r>
            <a:endParaRPr lang="zh-CN" altLang="en-US" b="1" dirty="0">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0698CF52-692E-C44A-8926-AA3F1E94484E}"/>
              </a:ext>
            </a:extLst>
          </p:cNvPr>
          <p:cNvSpPr txBox="1"/>
          <p:nvPr/>
        </p:nvSpPr>
        <p:spPr>
          <a:xfrm>
            <a:off x="5712562" y="6435537"/>
            <a:ext cx="284052" cy="343235"/>
          </a:xfrm>
          <a:prstGeom prst="rect">
            <a:avLst/>
          </a:prstGeom>
          <a:noFill/>
        </p:spPr>
        <p:txBody>
          <a:bodyPr wrap="none" rtlCol="0">
            <a:spAutoFit/>
          </a:bodyPr>
          <a:lstStyle/>
          <a:p>
            <a:pPr>
              <a:lnSpc>
                <a:spcPct val="130000"/>
              </a:lnSpc>
            </a:pPr>
            <a:r>
              <a:rPr kumimoji="1" lang="en-US" altLang="zh-CN" sz="1400" dirty="0">
                <a:ea typeface="微软雅黑" panose="020B0503020204020204" pitchFamily="34" charset="-122"/>
              </a:rPr>
              <a:t>9</a:t>
            </a:r>
            <a:endParaRPr kumimoji="1" lang="zh-CN" altLang="en-US" sz="1400" dirty="0">
              <a:latin typeface="Arial" panose="020B0604020202020204" pitchFamily="34" charset="0"/>
              <a:ea typeface="微软雅黑" panose="020B0503020204020204" pitchFamily="34" charset="-122"/>
            </a:endParaRPr>
          </a:p>
        </p:txBody>
      </p:sp>
      <p:pic>
        <p:nvPicPr>
          <p:cNvPr id="5" name="图片 4">
            <a:extLst>
              <a:ext uri="{FF2B5EF4-FFF2-40B4-BE49-F238E27FC236}">
                <a16:creationId xmlns:a16="http://schemas.microsoft.com/office/drawing/2014/main" id="{B4659AF6-81BE-3324-D288-2F096A1567FA}"/>
              </a:ext>
            </a:extLst>
          </p:cNvPr>
          <p:cNvPicPr>
            <a:picLocks noChangeAspect="1"/>
          </p:cNvPicPr>
          <p:nvPr/>
        </p:nvPicPr>
        <p:blipFill>
          <a:blip r:embed="rId5"/>
          <a:stretch>
            <a:fillRect/>
          </a:stretch>
        </p:blipFill>
        <p:spPr>
          <a:xfrm>
            <a:off x="699654" y="1955049"/>
            <a:ext cx="4932288" cy="3785995"/>
          </a:xfrm>
          <a:prstGeom prst="rect">
            <a:avLst/>
          </a:prstGeom>
        </p:spPr>
      </p:pic>
      <p:pic>
        <p:nvPicPr>
          <p:cNvPr id="9" name="图片 8">
            <a:extLst>
              <a:ext uri="{FF2B5EF4-FFF2-40B4-BE49-F238E27FC236}">
                <a16:creationId xmlns:a16="http://schemas.microsoft.com/office/drawing/2014/main" id="{04C0131A-A536-A568-4C6E-EF82ECA17019}"/>
              </a:ext>
            </a:extLst>
          </p:cNvPr>
          <p:cNvPicPr>
            <a:picLocks noChangeAspect="1"/>
          </p:cNvPicPr>
          <p:nvPr/>
        </p:nvPicPr>
        <p:blipFill>
          <a:blip r:embed="rId6"/>
          <a:srcRect b="4910"/>
          <a:stretch>
            <a:fillRect/>
          </a:stretch>
        </p:blipFill>
        <p:spPr>
          <a:xfrm>
            <a:off x="5761707" y="2091732"/>
            <a:ext cx="5730639" cy="750443"/>
          </a:xfrm>
          <a:prstGeom prst="rect">
            <a:avLst/>
          </a:prstGeom>
        </p:spPr>
      </p:pic>
      <p:pic>
        <p:nvPicPr>
          <p:cNvPr id="11" name="图片 10">
            <a:extLst>
              <a:ext uri="{FF2B5EF4-FFF2-40B4-BE49-F238E27FC236}">
                <a16:creationId xmlns:a16="http://schemas.microsoft.com/office/drawing/2014/main" id="{FFA8953A-AE93-D3F3-95D6-67C6E689BF22}"/>
              </a:ext>
            </a:extLst>
          </p:cNvPr>
          <p:cNvPicPr>
            <a:picLocks noChangeAspect="1"/>
          </p:cNvPicPr>
          <p:nvPr/>
        </p:nvPicPr>
        <p:blipFill>
          <a:blip r:embed="rId7"/>
          <a:stretch>
            <a:fillRect/>
          </a:stretch>
        </p:blipFill>
        <p:spPr>
          <a:xfrm>
            <a:off x="5994830" y="2934497"/>
            <a:ext cx="5075604" cy="877159"/>
          </a:xfrm>
          <a:prstGeom prst="rect">
            <a:avLst/>
          </a:prstGeom>
        </p:spPr>
      </p:pic>
      <p:pic>
        <p:nvPicPr>
          <p:cNvPr id="13" name="图片 12">
            <a:extLst>
              <a:ext uri="{FF2B5EF4-FFF2-40B4-BE49-F238E27FC236}">
                <a16:creationId xmlns:a16="http://schemas.microsoft.com/office/drawing/2014/main" id="{E5015C26-5FF8-A3CD-5821-FE9472DD6D66}"/>
              </a:ext>
            </a:extLst>
          </p:cNvPr>
          <p:cNvPicPr>
            <a:picLocks noChangeAspect="1"/>
          </p:cNvPicPr>
          <p:nvPr/>
        </p:nvPicPr>
        <p:blipFill>
          <a:blip r:embed="rId8"/>
          <a:stretch>
            <a:fillRect/>
          </a:stretch>
        </p:blipFill>
        <p:spPr>
          <a:xfrm>
            <a:off x="7010332" y="4112655"/>
            <a:ext cx="2720484" cy="709692"/>
          </a:xfrm>
          <a:prstGeom prst="rect">
            <a:avLst/>
          </a:prstGeom>
        </p:spPr>
      </p:pic>
      <p:pic>
        <p:nvPicPr>
          <p:cNvPr id="4" name="图片 1">
            <a:extLst>
              <a:ext uri="{FF2B5EF4-FFF2-40B4-BE49-F238E27FC236}">
                <a16:creationId xmlns:a16="http://schemas.microsoft.com/office/drawing/2014/main" id="{2BE2FB1E-C551-BEBF-A81F-A712BC507AC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0504714" y="0"/>
            <a:ext cx="1687286" cy="1697966"/>
          </a:xfrm>
          <a:prstGeom prst="rect">
            <a:avLst/>
          </a:prstGeom>
        </p:spPr>
      </p:pic>
    </p:spTree>
    <p:custDataLst>
      <p:tags r:id="rId1"/>
    </p:custDataLst>
    <p:extLst>
      <p:ext uri="{BB962C8B-B14F-4D97-AF65-F5344CB8AC3E}">
        <p14:creationId xmlns:p14="http://schemas.microsoft.com/office/powerpoint/2010/main" val="3012922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a:xfrm>
            <a:off x="584200" y="273050"/>
            <a:ext cx="4619625" cy="698500"/>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a:lstStyle>
          <a:p>
            <a:r>
              <a:rPr lang="zh-CN" altLang="en-US" dirty="0"/>
              <a:t>相关工作</a:t>
            </a:r>
          </a:p>
        </p:txBody>
      </p:sp>
      <p:pic>
        <p:nvPicPr>
          <p:cNvPr id="16" name="图片 15" descr="校徽"/>
          <p:cNvPicPr>
            <a:picLocks noChangeAspect="1"/>
          </p:cNvPicPr>
          <p:nvPr/>
        </p:nvPicPr>
        <p:blipFill>
          <a:blip r:embed="rId4"/>
          <a:stretch>
            <a:fillRect/>
          </a:stretch>
        </p:blipFill>
        <p:spPr>
          <a:xfrm>
            <a:off x="10744200" y="158750"/>
            <a:ext cx="1287780" cy="1287780"/>
          </a:xfrm>
          <a:prstGeom prst="rect">
            <a:avLst/>
          </a:prstGeom>
        </p:spPr>
      </p:pic>
      <p:sp>
        <p:nvSpPr>
          <p:cNvPr id="6" name="文本框 5"/>
          <p:cNvSpPr txBox="1"/>
          <p:nvPr/>
        </p:nvSpPr>
        <p:spPr>
          <a:xfrm>
            <a:off x="860096" y="5908456"/>
            <a:ext cx="10369013" cy="523220"/>
          </a:xfrm>
          <a:prstGeom prst="rect">
            <a:avLst/>
          </a:prstGeom>
          <a:noFill/>
        </p:spPr>
        <p:txBody>
          <a:bodyPr wrap="square" rtlCol="0">
            <a:spAutoFit/>
          </a:bodyPr>
          <a:lstStyle/>
          <a:p>
            <a:r>
              <a:rPr lang="en-US" altLang="zh-CN" sz="1400" dirty="0" err="1">
                <a:latin typeface="Times New Roman" panose="02020603050405020304" pitchFamily="18" charset="0"/>
                <a:cs typeface="Times New Roman" panose="02020603050405020304" pitchFamily="18" charset="0"/>
              </a:rPr>
              <a:t>Chunting</a:t>
            </a:r>
            <a:r>
              <a:rPr lang="en-US" altLang="zh-CN" sz="1400" dirty="0">
                <a:latin typeface="Times New Roman" panose="02020603050405020304" pitchFamily="18" charset="0"/>
                <a:cs typeface="Times New Roman" panose="02020603050405020304" pitchFamily="18" charset="0"/>
              </a:rPr>
              <a:t> Zhou, Pengfei Liu, </a:t>
            </a:r>
            <a:r>
              <a:rPr lang="en-US" altLang="zh-CN" sz="1400" dirty="0" err="1">
                <a:latin typeface="Times New Roman" panose="02020603050405020304" pitchFamily="18" charset="0"/>
                <a:cs typeface="Times New Roman" panose="02020603050405020304" pitchFamily="18" charset="0"/>
              </a:rPr>
              <a:t>Puxin</a:t>
            </a:r>
            <a:r>
              <a:rPr lang="en-US" altLang="zh-CN" sz="1400" dirty="0">
                <a:latin typeface="Times New Roman" panose="02020603050405020304" pitchFamily="18" charset="0"/>
                <a:cs typeface="Times New Roman" panose="02020603050405020304" pitchFamily="18" charset="0"/>
              </a:rPr>
              <a:t> Xu, Srinivasan Iyer, Jiao Sun, </a:t>
            </a:r>
            <a:r>
              <a:rPr lang="en-US" altLang="zh-CN" sz="1400" dirty="0" err="1">
                <a:latin typeface="Times New Roman" panose="02020603050405020304" pitchFamily="18" charset="0"/>
                <a:cs typeface="Times New Roman" panose="02020603050405020304" pitchFamily="18" charset="0"/>
              </a:rPr>
              <a:t>Yuning</a:t>
            </a:r>
            <a:r>
              <a:rPr lang="en-US" altLang="zh-CN" sz="1400" dirty="0">
                <a:latin typeface="Times New Roman" panose="02020603050405020304" pitchFamily="18" charset="0"/>
                <a:cs typeface="Times New Roman" panose="02020603050405020304" pitchFamily="18" charset="0"/>
              </a:rPr>
              <a:t> Mao, </a:t>
            </a:r>
            <a:r>
              <a:rPr lang="en-US" altLang="zh-CN" sz="1400" dirty="0" err="1">
                <a:latin typeface="Times New Roman" panose="02020603050405020304" pitchFamily="18" charset="0"/>
                <a:cs typeface="Times New Roman" panose="02020603050405020304" pitchFamily="18" charset="0"/>
              </a:rPr>
              <a:t>Xuezhe</a:t>
            </a:r>
            <a:r>
              <a:rPr lang="en-US" altLang="zh-CN" sz="1400" dirty="0">
                <a:latin typeface="Times New Roman" panose="02020603050405020304" pitchFamily="18" charset="0"/>
                <a:cs typeface="Times New Roman" panose="02020603050405020304" pitchFamily="18" charset="0"/>
              </a:rPr>
              <a:t> Ma, Avia Efrat, Ping Yu, Lili Yu, et al. Lima: Less is more for alignment. In </a:t>
            </a:r>
            <a:r>
              <a:rPr lang="en-US" altLang="zh-CN" sz="1400" dirty="0" err="1">
                <a:latin typeface="Times New Roman" panose="02020603050405020304" pitchFamily="18" charset="0"/>
                <a:cs typeface="Times New Roman" panose="02020603050405020304" pitchFamily="18" charset="0"/>
              </a:rPr>
              <a:t>NeurIPS</a:t>
            </a:r>
            <a:r>
              <a:rPr lang="en-US" altLang="zh-CN" sz="1400" dirty="0">
                <a:latin typeface="Times New Roman" panose="02020603050405020304" pitchFamily="18" charset="0"/>
                <a:cs typeface="Times New Roman" panose="02020603050405020304" pitchFamily="18" charset="0"/>
              </a:rPr>
              <a:t>, 2024.</a:t>
            </a:r>
          </a:p>
        </p:txBody>
      </p:sp>
      <p:sp>
        <p:nvSpPr>
          <p:cNvPr id="8" name="文本框 7"/>
          <p:cNvSpPr txBox="1"/>
          <p:nvPr/>
        </p:nvSpPr>
        <p:spPr>
          <a:xfrm>
            <a:off x="860096" y="1763075"/>
            <a:ext cx="7550336" cy="522451"/>
          </a:xfrm>
          <a:prstGeom prst="rect">
            <a:avLst/>
          </a:prstGeom>
          <a:noFill/>
        </p:spPr>
        <p:txBody>
          <a:bodyPr wrap="square" rtlCol="0">
            <a:spAutoFit/>
          </a:bodyPr>
          <a:lstStyle/>
          <a:p>
            <a:pPr>
              <a:lnSpc>
                <a:spcPct val="130000"/>
              </a:lnSpc>
            </a:pPr>
            <a:r>
              <a:rPr lang="en-US" altLang="zh-CN" b="1" dirty="0">
                <a:latin typeface="Arial" panose="020B0604020202020204" pitchFamily="34" charset="0"/>
                <a:ea typeface="微软雅黑" panose="020B0503020204020204" pitchFamily="34" charset="-122"/>
              </a:rPr>
              <a:t>LIMA: Less Is More for Alignment</a:t>
            </a:r>
            <a:endParaRPr lang="zh-CN" altLang="en-US" b="1" dirty="0">
              <a:latin typeface="Arial" panose="020B0604020202020204" pitchFamily="34" charset="0"/>
              <a:ea typeface="微软雅黑" panose="020B0503020204020204" pitchFamily="34" charset="-122"/>
            </a:endParaRPr>
          </a:p>
        </p:txBody>
      </p:sp>
      <p:sp>
        <p:nvSpPr>
          <p:cNvPr id="10" name="文本框 9">
            <a:extLst>
              <a:ext uri="{FF2B5EF4-FFF2-40B4-BE49-F238E27FC236}">
                <a16:creationId xmlns:a16="http://schemas.microsoft.com/office/drawing/2014/main" id="{C0FE34FC-B462-484F-8567-DA1FE2199632}"/>
              </a:ext>
            </a:extLst>
          </p:cNvPr>
          <p:cNvSpPr txBox="1"/>
          <p:nvPr/>
        </p:nvSpPr>
        <p:spPr>
          <a:xfrm>
            <a:off x="5122985" y="6514764"/>
            <a:ext cx="284052" cy="343235"/>
          </a:xfrm>
          <a:prstGeom prst="rect">
            <a:avLst/>
          </a:prstGeom>
          <a:noFill/>
        </p:spPr>
        <p:txBody>
          <a:bodyPr wrap="none" rtlCol="0">
            <a:spAutoFit/>
          </a:bodyPr>
          <a:lstStyle/>
          <a:p>
            <a:pPr>
              <a:lnSpc>
                <a:spcPct val="130000"/>
              </a:lnSpc>
            </a:pPr>
            <a:r>
              <a:rPr kumimoji="1" lang="en-US" altLang="zh-CN" sz="1400" dirty="0">
                <a:ea typeface="微软雅黑" panose="020B0503020204020204" pitchFamily="34" charset="-122"/>
              </a:rPr>
              <a:t>8</a:t>
            </a:r>
            <a:endParaRPr kumimoji="1" lang="zh-CN" altLang="en-US" sz="1400" dirty="0">
              <a:latin typeface="Arial" panose="020B0604020202020204" pitchFamily="34" charset="0"/>
              <a:ea typeface="微软雅黑" panose="020B0503020204020204" pitchFamily="34" charset="-122"/>
            </a:endParaRPr>
          </a:p>
        </p:txBody>
      </p:sp>
      <p:pic>
        <p:nvPicPr>
          <p:cNvPr id="4" name="图片 3">
            <a:extLst>
              <a:ext uri="{FF2B5EF4-FFF2-40B4-BE49-F238E27FC236}">
                <a16:creationId xmlns:a16="http://schemas.microsoft.com/office/drawing/2014/main" id="{714DFC21-F73D-32F6-A9E0-AB9866F578DE}"/>
              </a:ext>
            </a:extLst>
          </p:cNvPr>
          <p:cNvPicPr>
            <a:picLocks noChangeAspect="1"/>
          </p:cNvPicPr>
          <p:nvPr/>
        </p:nvPicPr>
        <p:blipFill>
          <a:blip r:embed="rId5"/>
          <a:stretch>
            <a:fillRect/>
          </a:stretch>
        </p:blipFill>
        <p:spPr>
          <a:xfrm>
            <a:off x="1621931" y="3416061"/>
            <a:ext cx="8845342" cy="2436743"/>
          </a:xfrm>
          <a:prstGeom prst="rect">
            <a:avLst/>
          </a:prstGeom>
        </p:spPr>
      </p:pic>
      <p:pic>
        <p:nvPicPr>
          <p:cNvPr id="3" name="图片 1">
            <a:extLst>
              <a:ext uri="{FF2B5EF4-FFF2-40B4-BE49-F238E27FC236}">
                <a16:creationId xmlns:a16="http://schemas.microsoft.com/office/drawing/2014/main" id="{5D78CAED-518E-C45D-BA6C-91CED200673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504714" y="0"/>
            <a:ext cx="1687286" cy="1697966"/>
          </a:xfrm>
          <a:prstGeom prst="rect">
            <a:avLst/>
          </a:prstGeom>
        </p:spPr>
      </p:pic>
      <p:pic>
        <p:nvPicPr>
          <p:cNvPr id="7" name="图片 6">
            <a:extLst>
              <a:ext uri="{FF2B5EF4-FFF2-40B4-BE49-F238E27FC236}">
                <a16:creationId xmlns:a16="http://schemas.microsoft.com/office/drawing/2014/main" id="{C8DC6E62-37B8-DB96-03C1-7236236C390F}"/>
              </a:ext>
            </a:extLst>
          </p:cNvPr>
          <p:cNvPicPr>
            <a:picLocks noChangeAspect="1"/>
          </p:cNvPicPr>
          <p:nvPr/>
        </p:nvPicPr>
        <p:blipFill>
          <a:blip r:embed="rId8"/>
          <a:stretch>
            <a:fillRect/>
          </a:stretch>
        </p:blipFill>
        <p:spPr>
          <a:xfrm>
            <a:off x="6127926" y="391481"/>
            <a:ext cx="4081605" cy="2941492"/>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3F3627-603A-564B-5AB6-2BE3FA18E877}"/>
              </a:ext>
            </a:extLst>
          </p:cNvPr>
          <p:cNvSpPr txBox="1"/>
          <p:nvPr/>
        </p:nvSpPr>
        <p:spPr>
          <a:xfrm>
            <a:off x="783772" y="6171141"/>
            <a:ext cx="9361714" cy="307777"/>
          </a:xfrm>
          <a:prstGeom prst="rect">
            <a:avLst/>
          </a:prstGeom>
          <a:noFill/>
        </p:spPr>
        <p:txBody>
          <a:bodyPr wrap="square">
            <a:spAutoFit/>
          </a:bodyPr>
          <a:lstStyle/>
          <a:p>
            <a:r>
              <a:rPr lang="en-US" altLang="zh-CN" sz="1400" dirty="0">
                <a:latin typeface="Times New Roman" panose="02020603050405020304" pitchFamily="18" charset="0"/>
                <a:cs typeface="Times New Roman" panose="02020603050405020304" pitchFamily="18" charset="0"/>
              </a:rPr>
              <a:t>Xia M, Malladi S, </a:t>
            </a:r>
            <a:r>
              <a:rPr lang="en-US" altLang="zh-CN" sz="1400" dirty="0" err="1">
                <a:latin typeface="Times New Roman" panose="02020603050405020304" pitchFamily="18" charset="0"/>
                <a:cs typeface="Times New Roman" panose="02020603050405020304" pitchFamily="18" charset="0"/>
              </a:rPr>
              <a:t>Gururangan</a:t>
            </a:r>
            <a:r>
              <a:rPr lang="en-US" altLang="zh-CN" sz="1400" dirty="0">
                <a:latin typeface="Times New Roman" panose="02020603050405020304" pitchFamily="18" charset="0"/>
                <a:cs typeface="Times New Roman" panose="02020603050405020304" pitchFamily="18" charset="0"/>
              </a:rPr>
              <a:t> S, et al. LESS: selecting influential data for targeted instruction tuning. In ICML 2024.</a:t>
            </a:r>
            <a:endParaRPr lang="zh-CN" altLang="en-US" sz="14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50713351-A155-B3A6-D1F3-B9487BC29509}"/>
              </a:ext>
            </a:extLst>
          </p:cNvPr>
          <p:cNvPicPr>
            <a:picLocks noChangeAspect="1"/>
          </p:cNvPicPr>
          <p:nvPr/>
        </p:nvPicPr>
        <p:blipFill>
          <a:blip r:embed="rId3"/>
          <a:stretch>
            <a:fillRect/>
          </a:stretch>
        </p:blipFill>
        <p:spPr>
          <a:xfrm>
            <a:off x="4974772" y="2126199"/>
            <a:ext cx="6742857" cy="3685714"/>
          </a:xfrm>
          <a:prstGeom prst="rect">
            <a:avLst/>
          </a:prstGeom>
        </p:spPr>
      </p:pic>
      <p:pic>
        <p:nvPicPr>
          <p:cNvPr id="7" name="图片 6">
            <a:extLst>
              <a:ext uri="{FF2B5EF4-FFF2-40B4-BE49-F238E27FC236}">
                <a16:creationId xmlns:a16="http://schemas.microsoft.com/office/drawing/2014/main" id="{0605EBBC-85BB-748B-2A88-B23F2B7F1697}"/>
              </a:ext>
            </a:extLst>
          </p:cNvPr>
          <p:cNvPicPr>
            <a:picLocks noChangeAspect="1"/>
          </p:cNvPicPr>
          <p:nvPr/>
        </p:nvPicPr>
        <p:blipFill>
          <a:blip r:embed="rId4"/>
          <a:stretch>
            <a:fillRect/>
          </a:stretch>
        </p:blipFill>
        <p:spPr>
          <a:xfrm>
            <a:off x="474371" y="2692257"/>
            <a:ext cx="4209524" cy="885714"/>
          </a:xfrm>
          <a:prstGeom prst="rect">
            <a:avLst/>
          </a:prstGeom>
        </p:spPr>
      </p:pic>
      <p:pic>
        <p:nvPicPr>
          <p:cNvPr id="9" name="图片 8">
            <a:extLst>
              <a:ext uri="{FF2B5EF4-FFF2-40B4-BE49-F238E27FC236}">
                <a16:creationId xmlns:a16="http://schemas.microsoft.com/office/drawing/2014/main" id="{26DB3FA2-2C07-B6E3-B6E7-12AC8E6991CA}"/>
              </a:ext>
            </a:extLst>
          </p:cNvPr>
          <p:cNvPicPr>
            <a:picLocks noChangeAspect="1"/>
          </p:cNvPicPr>
          <p:nvPr/>
        </p:nvPicPr>
        <p:blipFill>
          <a:blip r:embed="rId5"/>
          <a:stretch>
            <a:fillRect/>
          </a:stretch>
        </p:blipFill>
        <p:spPr>
          <a:xfrm>
            <a:off x="474371" y="3895657"/>
            <a:ext cx="4500401" cy="802774"/>
          </a:xfrm>
          <a:prstGeom prst="rect">
            <a:avLst/>
          </a:prstGeom>
        </p:spPr>
      </p:pic>
      <p:sp>
        <p:nvSpPr>
          <p:cNvPr id="12" name="文本框 11">
            <a:extLst>
              <a:ext uri="{FF2B5EF4-FFF2-40B4-BE49-F238E27FC236}">
                <a16:creationId xmlns:a16="http://schemas.microsoft.com/office/drawing/2014/main" id="{53587E01-44A9-4A01-105C-D537A3A7EBD3}"/>
              </a:ext>
            </a:extLst>
          </p:cNvPr>
          <p:cNvSpPr txBox="1"/>
          <p:nvPr/>
        </p:nvSpPr>
        <p:spPr>
          <a:xfrm>
            <a:off x="925286" y="1295808"/>
            <a:ext cx="9884228" cy="522451"/>
          </a:xfrm>
          <a:prstGeom prst="rect">
            <a:avLst/>
          </a:prstGeom>
          <a:noFill/>
        </p:spPr>
        <p:txBody>
          <a:bodyPr wrap="square" rtlCol="0">
            <a:spAutoFit/>
          </a:bodyPr>
          <a:lstStyle/>
          <a:p>
            <a:pPr>
              <a:lnSpc>
                <a:spcPct val="130000"/>
              </a:lnSpc>
            </a:pPr>
            <a:r>
              <a:rPr lang="en-US" altLang="zh-CN" b="1" dirty="0"/>
              <a:t>LESS: Selecting Influential Data for Targeted Instruction Tuning </a:t>
            </a:r>
            <a:endParaRPr lang="zh-CN" altLang="en-US" b="1" dirty="0">
              <a:latin typeface="Arial" panose="020B0604020202020204" pitchFamily="34" charset="0"/>
              <a:ea typeface="微软雅黑" panose="020B0503020204020204" pitchFamily="34" charset="-122"/>
            </a:endParaRPr>
          </a:p>
        </p:txBody>
      </p:sp>
      <p:sp>
        <p:nvSpPr>
          <p:cNvPr id="13" name="标题 1">
            <a:extLst>
              <a:ext uri="{FF2B5EF4-FFF2-40B4-BE49-F238E27FC236}">
                <a16:creationId xmlns:a16="http://schemas.microsoft.com/office/drawing/2014/main" id="{E77048EA-1390-814B-D62F-F19E29992949}"/>
              </a:ext>
            </a:extLst>
          </p:cNvPr>
          <p:cNvSpPr/>
          <p:nvPr/>
        </p:nvSpPr>
        <p:spPr>
          <a:xfrm>
            <a:off x="584200" y="273050"/>
            <a:ext cx="4619625" cy="698500"/>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a:lstStyle>
          <a:p>
            <a:r>
              <a:rPr lang="zh-CN" altLang="en-US" dirty="0"/>
              <a:t>相关工作</a:t>
            </a:r>
          </a:p>
        </p:txBody>
      </p:sp>
    </p:spTree>
    <p:extLst>
      <p:ext uri="{BB962C8B-B14F-4D97-AF65-F5344CB8AC3E}">
        <p14:creationId xmlns:p14="http://schemas.microsoft.com/office/powerpoint/2010/main" val="416281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87614B4-A238-43AA-B2FC-FC89DF2F7725}"/>
              </a:ext>
            </a:extLst>
          </p:cNvPr>
          <p:cNvSpPr txBox="1"/>
          <p:nvPr/>
        </p:nvSpPr>
        <p:spPr>
          <a:xfrm>
            <a:off x="529671" y="736823"/>
            <a:ext cx="11412415" cy="5652253"/>
          </a:xfrm>
          <a:prstGeom prst="rect">
            <a:avLst/>
          </a:prstGeom>
          <a:noFill/>
        </p:spPr>
        <p:txBody>
          <a:bodyPr wrap="square" rtlCol="0">
            <a:spAutoFit/>
          </a:bodyPr>
          <a:lstStyle/>
          <a:p>
            <a:pPr>
              <a:lnSpc>
                <a:spcPct val="130000"/>
              </a:lnSpc>
            </a:pPr>
            <a:r>
              <a:rPr lang="zh-CN" altLang="en-US" sz="2000" dirty="0">
                <a:latin typeface="Arial" panose="020B0604020202020204" pitchFamily="34" charset="0"/>
                <a:ea typeface="微软雅黑" panose="020B0503020204020204" pitchFamily="34" charset="-122"/>
              </a:rPr>
              <a:t>当前</a:t>
            </a:r>
            <a:r>
              <a:rPr lang="en-US" altLang="zh-CN" sz="2000" dirty="0">
                <a:latin typeface="Arial" panose="020B0604020202020204" pitchFamily="34" charset="0"/>
                <a:ea typeface="微软雅黑" panose="020B0503020204020204" pitchFamily="34" charset="-122"/>
              </a:rPr>
              <a:t>SFT</a:t>
            </a:r>
            <a:r>
              <a:rPr lang="zh-CN" altLang="en-US" sz="2000" dirty="0">
                <a:latin typeface="Arial" panose="020B0604020202020204" pitchFamily="34" charset="0"/>
                <a:ea typeface="微软雅黑" panose="020B0503020204020204" pitchFamily="34" charset="-122"/>
              </a:rPr>
              <a:t>数据优化面临的问题：</a:t>
            </a:r>
            <a:endParaRPr lang="en-US" altLang="zh-CN" sz="2000" dirty="0">
              <a:latin typeface="Arial" panose="020B0604020202020204" pitchFamily="34" charset="0"/>
              <a:ea typeface="微软雅黑" panose="020B0503020204020204" pitchFamily="34" charset="-122"/>
            </a:endParaRPr>
          </a:p>
          <a:p>
            <a:pPr>
              <a:lnSpc>
                <a:spcPct val="130000"/>
              </a:lnSpc>
            </a:pPr>
            <a:r>
              <a:rPr lang="en-US" altLang="zh-CN" sz="2000" b="1" dirty="0">
                <a:latin typeface="Arial" panose="020B0604020202020204" pitchFamily="34" charset="0"/>
                <a:ea typeface="微软雅黑" panose="020B0503020204020204" pitchFamily="34" charset="-122"/>
              </a:rPr>
              <a:t>(1) </a:t>
            </a:r>
            <a:r>
              <a:rPr lang="zh-CN" altLang="en-US" sz="2000" b="1" dirty="0">
                <a:latin typeface="Arial" panose="020B0604020202020204" pitchFamily="34" charset="0"/>
                <a:ea typeface="微软雅黑" panose="020B0503020204020204" pitchFamily="34" charset="-122"/>
              </a:rPr>
              <a:t>数据成本高昂</a:t>
            </a:r>
            <a:endParaRPr lang="en-US" altLang="zh-CN" sz="2000" b="1" dirty="0">
              <a:latin typeface="Arial" panose="020B0604020202020204" pitchFamily="34" charset="0"/>
              <a:ea typeface="微软雅黑" panose="020B0503020204020204" pitchFamily="34" charset="-122"/>
            </a:endParaRPr>
          </a:p>
          <a:p>
            <a:pPr>
              <a:lnSpc>
                <a:spcPct val="130000"/>
              </a:lnSpc>
            </a:pPr>
            <a:r>
              <a:rPr lang="en-US" altLang="zh-CN" sz="2000" dirty="0">
                <a:ea typeface="微软雅黑" panose="020B0503020204020204" pitchFamily="34" charset="-122"/>
              </a:rPr>
              <a:t>	</a:t>
            </a:r>
            <a:r>
              <a:rPr lang="zh-CN" altLang="en-US" sz="2000" dirty="0">
                <a:latin typeface="Arial" panose="020B0604020202020204" pitchFamily="34" charset="0"/>
                <a:ea typeface="微软雅黑" panose="020B0503020204020204" pitchFamily="34" charset="-122"/>
              </a:rPr>
              <a:t> 现有方法（如人工标注或依赖专有</a:t>
            </a:r>
            <a:r>
              <a:rPr lang="en-US" altLang="zh-CN" sz="2000" dirty="0">
                <a:latin typeface="Arial" panose="020B0604020202020204" pitchFamily="34" charset="0"/>
                <a:ea typeface="微软雅黑" panose="020B0503020204020204" pitchFamily="34" charset="-122"/>
              </a:rPr>
              <a:t>LLMs</a:t>
            </a:r>
            <a:r>
              <a:rPr lang="zh-CN" altLang="en-US" sz="2000" dirty="0">
                <a:latin typeface="Arial" panose="020B0604020202020204" pitchFamily="34" charset="0"/>
                <a:ea typeface="微软雅黑" panose="020B0503020204020204" pitchFamily="34" charset="-122"/>
              </a:rPr>
              <a:t>生成数据）导致了高昂的计算和人力</a:t>
            </a:r>
            <a:r>
              <a:rPr lang="zh-CN" altLang="en-US" sz="2000" dirty="0">
                <a:solidFill>
                  <a:srgbClr val="C00000"/>
                </a:solidFill>
                <a:latin typeface="Arial" panose="020B0604020202020204" pitchFamily="34" charset="0"/>
                <a:ea typeface="微软雅黑" panose="020B0503020204020204" pitchFamily="34" charset="-122"/>
              </a:rPr>
              <a:t>成本</a:t>
            </a:r>
            <a:r>
              <a:rPr lang="zh-CN" altLang="en-US" sz="2000" dirty="0">
                <a:latin typeface="Arial" panose="020B0604020202020204" pitchFamily="34" charset="0"/>
                <a:ea typeface="微软雅黑" panose="020B0503020204020204" pitchFamily="34" charset="-122"/>
              </a:rPr>
              <a:t>，限制了方法的广泛应用和可扩展性。</a:t>
            </a:r>
            <a:endParaRPr lang="en-US" altLang="zh-CN" sz="2000" dirty="0">
              <a:latin typeface="Arial" panose="020B0604020202020204" pitchFamily="34" charset="0"/>
              <a:ea typeface="微软雅黑" panose="020B0503020204020204" pitchFamily="34" charset="-122"/>
            </a:endParaRPr>
          </a:p>
          <a:p>
            <a:pPr>
              <a:lnSpc>
                <a:spcPct val="130000"/>
              </a:lnSpc>
            </a:pPr>
            <a:r>
              <a:rPr lang="en-US" altLang="zh-CN" sz="2000" b="1" dirty="0">
                <a:ea typeface="微软雅黑" panose="020B0503020204020204" pitchFamily="34" charset="-122"/>
              </a:rPr>
              <a:t>(2) </a:t>
            </a:r>
            <a:r>
              <a:rPr lang="zh-CN" altLang="en-US" sz="2000" b="1" dirty="0">
                <a:latin typeface="Arial" panose="020B0604020202020204" pitchFamily="34" charset="0"/>
                <a:ea typeface="微软雅黑" panose="020B0503020204020204" pitchFamily="34" charset="-122"/>
              </a:rPr>
              <a:t>数据利用率不足</a:t>
            </a:r>
            <a:endParaRPr lang="en-US" altLang="zh-CN" sz="2000" b="1" dirty="0">
              <a:latin typeface="Arial" panose="020B0604020202020204" pitchFamily="34" charset="0"/>
              <a:ea typeface="微软雅黑" panose="020B0503020204020204" pitchFamily="34" charset="-122"/>
            </a:endParaRPr>
          </a:p>
          <a:p>
            <a:pPr>
              <a:lnSpc>
                <a:spcPct val="130000"/>
              </a:lnSpc>
            </a:pPr>
            <a:r>
              <a:rPr lang="en-US" altLang="zh-CN" sz="2000" dirty="0">
                <a:ea typeface="微软雅黑" panose="020B0503020204020204" pitchFamily="34" charset="-122"/>
              </a:rPr>
              <a:t>	</a:t>
            </a:r>
            <a:r>
              <a:rPr lang="zh-CN" altLang="en-US" sz="2000" dirty="0">
                <a:latin typeface="Arial" panose="020B0604020202020204" pitchFamily="34" charset="0"/>
                <a:ea typeface="微软雅黑" panose="020B0503020204020204" pitchFamily="34" charset="-122"/>
              </a:rPr>
              <a:t>许多方法侧重于筛选“高质量”或“信息量大”的样本，可能直接</a:t>
            </a:r>
            <a:r>
              <a:rPr lang="zh-CN" altLang="en-US" sz="2000" dirty="0">
                <a:solidFill>
                  <a:srgbClr val="C00000"/>
                </a:solidFill>
                <a:latin typeface="Arial" panose="020B0604020202020204" pitchFamily="34" charset="0"/>
                <a:ea typeface="微软雅黑" panose="020B0503020204020204" pitchFamily="34" charset="-122"/>
              </a:rPr>
              <a:t>丢弃</a:t>
            </a:r>
            <a:r>
              <a:rPr lang="zh-CN" altLang="en-US" sz="2000" dirty="0">
                <a:latin typeface="Arial" panose="020B0604020202020204" pitchFamily="34" charset="0"/>
                <a:ea typeface="微软雅黑" panose="020B0503020204020204" pitchFamily="34" charset="-122"/>
              </a:rPr>
              <a:t>被认为是“噪音”或“不重要”的数据，但这些数据可能包含难以学习的</a:t>
            </a:r>
            <a:r>
              <a:rPr lang="zh-CN" altLang="en-US" sz="2000" dirty="0">
                <a:solidFill>
                  <a:srgbClr val="C00000"/>
                </a:solidFill>
                <a:latin typeface="Arial" panose="020B0604020202020204" pitchFamily="34" charset="0"/>
                <a:ea typeface="微软雅黑" panose="020B0503020204020204" pitchFamily="34" charset="-122"/>
              </a:rPr>
              <a:t>难样本</a:t>
            </a:r>
            <a:r>
              <a:rPr lang="zh-CN" altLang="en-US" sz="2000" dirty="0">
                <a:latin typeface="Arial" panose="020B0604020202020204" pitchFamily="34" charset="0"/>
                <a:ea typeface="微软雅黑" panose="020B0503020204020204" pitchFamily="34" charset="-122"/>
              </a:rPr>
              <a:t>，导致有价值信息的丢失。</a:t>
            </a:r>
            <a:endParaRPr lang="en-US" altLang="zh-CN" sz="2000" dirty="0">
              <a:latin typeface="Arial" panose="020B0604020202020204" pitchFamily="34" charset="0"/>
              <a:ea typeface="微软雅黑" panose="020B0503020204020204" pitchFamily="34" charset="-122"/>
            </a:endParaRPr>
          </a:p>
          <a:p>
            <a:pPr>
              <a:lnSpc>
                <a:spcPct val="130000"/>
              </a:lnSpc>
            </a:pPr>
            <a:r>
              <a:rPr lang="en-US" altLang="zh-CN" sz="2000" b="1" dirty="0">
                <a:ea typeface="微软雅黑" panose="020B0503020204020204" pitchFamily="34" charset="-122"/>
              </a:rPr>
              <a:t>(3) </a:t>
            </a:r>
            <a:r>
              <a:rPr lang="zh-CN" altLang="en-US" sz="2000" b="1" dirty="0">
                <a:latin typeface="Arial" panose="020B0604020202020204" pitchFamily="34" charset="0"/>
                <a:ea typeface="微软雅黑" panose="020B0503020204020204" pitchFamily="34" charset="-122"/>
              </a:rPr>
              <a:t>模型过拟合与欠拟合 </a:t>
            </a:r>
            <a:endParaRPr lang="en-US" altLang="zh-CN" sz="2000" b="1" dirty="0">
              <a:latin typeface="Arial" panose="020B0604020202020204" pitchFamily="34" charset="0"/>
              <a:ea typeface="微软雅黑" panose="020B0503020204020204" pitchFamily="34" charset="-122"/>
            </a:endParaRPr>
          </a:p>
          <a:p>
            <a:pPr>
              <a:lnSpc>
                <a:spcPct val="130000"/>
              </a:lnSpc>
            </a:pPr>
            <a:r>
              <a:rPr lang="en-US" altLang="zh-CN" sz="2000" dirty="0">
                <a:ea typeface="微软雅黑" panose="020B0503020204020204" pitchFamily="34" charset="-122"/>
              </a:rPr>
              <a:t>	</a:t>
            </a:r>
            <a:r>
              <a:rPr lang="zh-CN" altLang="en-US" sz="2000" dirty="0">
                <a:latin typeface="Arial" panose="020B0604020202020204" pitchFamily="34" charset="0"/>
                <a:ea typeface="微软雅黑" panose="020B0503020204020204" pitchFamily="34" charset="-122"/>
              </a:rPr>
              <a:t>传统的</a:t>
            </a:r>
            <a:r>
              <a:rPr lang="en-US" altLang="zh-CN" sz="2000" dirty="0">
                <a:latin typeface="Arial" panose="020B0604020202020204" pitchFamily="34" charset="0"/>
                <a:ea typeface="微软雅黑" panose="020B0503020204020204" pitchFamily="34" charset="-122"/>
              </a:rPr>
              <a:t>SFT</a:t>
            </a:r>
            <a:r>
              <a:rPr lang="zh-CN" altLang="en-US" sz="2000" dirty="0">
                <a:latin typeface="Arial" panose="020B0604020202020204" pitchFamily="34" charset="0"/>
                <a:ea typeface="微软雅黑" panose="020B0503020204020204" pitchFamily="34" charset="-122"/>
              </a:rPr>
              <a:t>训练可能导致模型</a:t>
            </a:r>
            <a:r>
              <a:rPr lang="zh-CN" altLang="en-US" sz="2000" dirty="0">
                <a:solidFill>
                  <a:srgbClr val="C00000"/>
                </a:solidFill>
                <a:latin typeface="Arial" panose="020B0604020202020204" pitchFamily="34" charset="0"/>
                <a:ea typeface="微软雅黑" panose="020B0503020204020204" pitchFamily="34" charset="-122"/>
              </a:rPr>
              <a:t>对简单样本过拟合</a:t>
            </a:r>
            <a:r>
              <a:rPr lang="zh-CN" altLang="en-US" sz="2000" dirty="0">
                <a:latin typeface="Arial" panose="020B0604020202020204" pitchFamily="34" charset="0"/>
                <a:ea typeface="微软雅黑" panose="020B0503020204020204" pitchFamily="34" charset="-122"/>
              </a:rPr>
              <a:t>，而对复杂或难学习的样本</a:t>
            </a:r>
            <a:r>
              <a:rPr lang="zh-CN" altLang="en-US" sz="2000" dirty="0">
                <a:solidFill>
                  <a:srgbClr val="C00000"/>
                </a:solidFill>
                <a:latin typeface="Arial" panose="020B0604020202020204" pitchFamily="34" charset="0"/>
                <a:ea typeface="微软雅黑" panose="020B0503020204020204" pitchFamily="34" charset="-122"/>
              </a:rPr>
              <a:t>欠拟合</a:t>
            </a:r>
            <a:r>
              <a:rPr lang="zh-CN" altLang="en-US" sz="2000" dirty="0">
                <a:latin typeface="Arial" panose="020B0604020202020204" pitchFamily="34" charset="0"/>
                <a:ea typeface="微软雅黑" panose="020B0503020204020204" pitchFamily="34" charset="-122"/>
              </a:rPr>
              <a:t>，未能充分挖掘</a:t>
            </a:r>
            <a:r>
              <a:rPr lang="en-US" altLang="zh-CN" sz="2000" dirty="0">
                <a:latin typeface="Arial" panose="020B0604020202020204" pitchFamily="34" charset="0"/>
                <a:ea typeface="微软雅黑" panose="020B0503020204020204" pitchFamily="34" charset="-122"/>
              </a:rPr>
              <a:t>SFT</a:t>
            </a:r>
            <a:r>
              <a:rPr lang="zh-CN" altLang="en-US" sz="2000" dirty="0">
                <a:latin typeface="Arial" panose="020B0604020202020204" pitchFamily="34" charset="0"/>
                <a:ea typeface="微软雅黑" panose="020B0503020204020204" pitchFamily="34" charset="-122"/>
              </a:rPr>
              <a:t>数据集的</a:t>
            </a:r>
            <a:r>
              <a:rPr lang="zh-CN" altLang="en-US" sz="2000" dirty="0">
                <a:solidFill>
                  <a:srgbClr val="C00000"/>
                </a:solidFill>
                <a:latin typeface="Arial" panose="020B0604020202020204" pitchFamily="34" charset="0"/>
                <a:ea typeface="微软雅黑" panose="020B0503020204020204" pitchFamily="34" charset="-122"/>
              </a:rPr>
              <a:t>内在潜力</a:t>
            </a:r>
            <a:r>
              <a:rPr lang="zh-CN" altLang="en-US" sz="2000" dirty="0">
                <a:latin typeface="Arial" panose="020B0604020202020204" pitchFamily="34" charset="0"/>
                <a:ea typeface="微软雅黑" panose="020B0503020204020204" pitchFamily="34" charset="-122"/>
              </a:rPr>
              <a:t>。</a:t>
            </a:r>
            <a:endParaRPr lang="en-US" altLang="zh-CN" sz="2000" dirty="0">
              <a:latin typeface="Arial" panose="020B0604020202020204" pitchFamily="34" charset="0"/>
              <a:ea typeface="微软雅黑" panose="020B0503020204020204" pitchFamily="34" charset="-122"/>
            </a:endParaRPr>
          </a:p>
          <a:p>
            <a:pPr>
              <a:lnSpc>
                <a:spcPct val="130000"/>
              </a:lnSpc>
            </a:pPr>
            <a:r>
              <a:rPr lang="en-US" altLang="zh-CN" sz="2000" b="1" dirty="0">
                <a:ea typeface="微软雅黑" panose="020B0503020204020204" pitchFamily="34" charset="-122"/>
              </a:rPr>
              <a:t>(4) </a:t>
            </a:r>
            <a:r>
              <a:rPr lang="zh-CN" altLang="en-US" sz="2000" b="1" dirty="0">
                <a:latin typeface="Arial" panose="020B0604020202020204" pitchFamily="34" charset="0"/>
                <a:ea typeface="微软雅黑" panose="020B0503020204020204" pitchFamily="34" charset="-122"/>
              </a:rPr>
              <a:t>缺乏对数据内在属性的充分利用</a:t>
            </a:r>
            <a:endParaRPr lang="en-US" altLang="zh-CN" sz="2000" b="1" dirty="0">
              <a:latin typeface="Arial" panose="020B0604020202020204" pitchFamily="34" charset="0"/>
              <a:ea typeface="微软雅黑" panose="020B0503020204020204" pitchFamily="34" charset="-122"/>
            </a:endParaRPr>
          </a:p>
          <a:p>
            <a:pPr>
              <a:lnSpc>
                <a:spcPct val="130000"/>
              </a:lnSpc>
            </a:pPr>
            <a:r>
              <a:rPr lang="en-US" altLang="zh-CN" sz="2000" dirty="0">
                <a:ea typeface="微软雅黑" panose="020B0503020204020204" pitchFamily="34" charset="-122"/>
              </a:rPr>
              <a:t>	</a:t>
            </a:r>
            <a:r>
              <a:rPr lang="zh-CN" altLang="en-US" sz="2000" dirty="0">
                <a:latin typeface="Arial" panose="020B0604020202020204" pitchFamily="34" charset="0"/>
                <a:ea typeface="微软雅黑" panose="020B0503020204020204" pitchFamily="34" charset="-122"/>
              </a:rPr>
              <a:t>现有方法未能充分利用</a:t>
            </a:r>
            <a:r>
              <a:rPr lang="en-US" altLang="zh-CN" sz="2000" dirty="0">
                <a:latin typeface="Arial" panose="020B0604020202020204" pitchFamily="34" charset="0"/>
                <a:ea typeface="微软雅黑" panose="020B0503020204020204" pitchFamily="34" charset="-122"/>
              </a:rPr>
              <a:t>SFT</a:t>
            </a:r>
            <a:r>
              <a:rPr lang="zh-CN" altLang="en-US" sz="2000" dirty="0">
                <a:latin typeface="Arial" panose="020B0604020202020204" pitchFamily="34" charset="0"/>
                <a:ea typeface="微软雅黑" panose="020B0503020204020204" pitchFamily="34" charset="-122"/>
              </a:rPr>
              <a:t>数据本身的内在属性（如</a:t>
            </a:r>
            <a:r>
              <a:rPr lang="zh-CN" altLang="en-US" sz="2000" dirty="0">
                <a:solidFill>
                  <a:srgbClr val="C00000"/>
                </a:solidFill>
                <a:latin typeface="Arial" panose="020B0604020202020204" pitchFamily="34" charset="0"/>
                <a:ea typeface="微软雅黑" panose="020B0503020204020204" pitchFamily="34" charset="-122"/>
              </a:rPr>
              <a:t>样本难度、模型学习动态</a:t>
            </a:r>
            <a:r>
              <a:rPr lang="zh-CN" altLang="en-US" sz="2000" dirty="0">
                <a:latin typeface="Arial" panose="020B0604020202020204" pitchFamily="34" charset="0"/>
                <a:ea typeface="微软雅黑" panose="020B0503020204020204" pitchFamily="34" charset="-122"/>
              </a:rPr>
              <a:t>等），限制了</a:t>
            </a:r>
            <a:r>
              <a:rPr lang="en-US" altLang="zh-CN" sz="2000" dirty="0">
                <a:latin typeface="Arial" panose="020B0604020202020204" pitchFamily="34" charset="0"/>
                <a:ea typeface="微软雅黑" panose="020B0503020204020204" pitchFamily="34" charset="-122"/>
              </a:rPr>
              <a:t>LLMs</a:t>
            </a:r>
            <a:r>
              <a:rPr lang="zh-CN" altLang="en-US" sz="2000" dirty="0">
                <a:latin typeface="Arial" panose="020B0604020202020204" pitchFamily="34" charset="0"/>
                <a:ea typeface="微软雅黑" panose="020B0503020204020204" pitchFamily="34" charset="-122"/>
              </a:rPr>
              <a:t>潜在性能的进一步提升。</a:t>
            </a:r>
            <a:endParaRPr lang="en-US" altLang="zh-CN" sz="2000" dirty="0">
              <a:ea typeface="微软雅黑" panose="020B0503020204020204" pitchFamily="34" charset="-122"/>
            </a:endParaRPr>
          </a:p>
          <a:p>
            <a:pPr>
              <a:lnSpc>
                <a:spcPct val="130000"/>
              </a:lnSpc>
            </a:pPr>
            <a:endParaRPr lang="zh-CN" altLang="en-US" sz="2000" dirty="0">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C698547E-5983-47A8-AC4A-5C07868ACA67}"/>
              </a:ext>
            </a:extLst>
          </p:cNvPr>
          <p:cNvSpPr txBox="1"/>
          <p:nvPr/>
        </p:nvSpPr>
        <p:spPr>
          <a:xfrm>
            <a:off x="5316415" y="6389076"/>
            <a:ext cx="398585" cy="343235"/>
          </a:xfrm>
          <a:prstGeom prst="rect">
            <a:avLst/>
          </a:prstGeom>
          <a:noFill/>
        </p:spPr>
        <p:txBody>
          <a:bodyPr wrap="square" rtlCol="0">
            <a:spAutoFit/>
          </a:bodyPr>
          <a:lstStyle/>
          <a:p>
            <a:pPr>
              <a:lnSpc>
                <a:spcPct val="130000"/>
              </a:lnSpc>
            </a:pPr>
            <a:r>
              <a:rPr lang="en-US" altLang="zh-CN" sz="1400" dirty="0">
                <a:latin typeface="Arial" panose="020B0604020202020204" pitchFamily="34" charset="0"/>
                <a:ea typeface="微软雅黑" panose="020B0503020204020204" pitchFamily="34" charset="-122"/>
              </a:rPr>
              <a:t>10</a:t>
            </a:r>
            <a:endParaRPr lang="zh-CN" altLang="en-US" sz="1400" dirty="0">
              <a:latin typeface="Arial" panose="020B0604020202020204" pitchFamily="34" charset="0"/>
              <a:ea typeface="微软雅黑" panose="020B0503020204020204" pitchFamily="34" charset="-122"/>
            </a:endParaRPr>
          </a:p>
        </p:txBody>
      </p:sp>
      <p:pic>
        <p:nvPicPr>
          <p:cNvPr id="4" name="图片 1">
            <a:extLst>
              <a:ext uri="{FF2B5EF4-FFF2-40B4-BE49-F238E27FC236}">
                <a16:creationId xmlns:a16="http://schemas.microsoft.com/office/drawing/2014/main" id="{A2BCC2E2-BECA-9402-72C3-AE8EE555501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504714" y="0"/>
            <a:ext cx="1687286" cy="1697966"/>
          </a:xfrm>
          <a:prstGeom prst="rect">
            <a:avLst/>
          </a:prstGeom>
        </p:spPr>
      </p:pic>
    </p:spTree>
    <p:extLst>
      <p:ext uri="{BB962C8B-B14F-4D97-AF65-F5344CB8AC3E}">
        <p14:creationId xmlns:p14="http://schemas.microsoft.com/office/powerpoint/2010/main" val="370681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solidFill>
            <a:srgbClr val="358CC1"/>
          </a:solidFill>
        </p:spPr>
        <p:txBody>
          <a:bodyPr/>
          <a:lstStyle/>
          <a:p>
            <a:r>
              <a:rPr lang="zh-CN" dirty="0">
                <a:latin typeface="+mj-lt"/>
                <a:ea typeface="+mj-ea"/>
              </a:rPr>
              <a:t>研 究 </a:t>
            </a:r>
            <a:r>
              <a:rPr lang="zh-CN" altLang="en-US" dirty="0">
                <a:latin typeface="+mj-lt"/>
                <a:ea typeface="+mj-ea"/>
              </a:rPr>
              <a:t>方 法</a:t>
            </a:r>
            <a:endParaRPr lang="zh-CN" dirty="0">
              <a:latin typeface="+mj-lt"/>
              <a:ea typeface="+mj-ea"/>
            </a:endParaRPr>
          </a:p>
        </p:txBody>
      </p:sp>
      <p:pic>
        <p:nvPicPr>
          <p:cNvPr id="16" name="图片 15" descr="校徽"/>
          <p:cNvPicPr>
            <a:picLocks noChangeAspect="1"/>
          </p:cNvPicPr>
          <p:nvPr/>
        </p:nvPicPr>
        <p:blipFill>
          <a:blip r:embed="rId5"/>
          <a:stretch>
            <a:fillRect/>
          </a:stretch>
        </p:blipFill>
        <p:spPr>
          <a:xfrm>
            <a:off x="10744200" y="158750"/>
            <a:ext cx="1287780" cy="1287780"/>
          </a:xfrm>
          <a:prstGeom prst="rect">
            <a:avLst/>
          </a:prstGeom>
        </p:spPr>
      </p:pic>
      <p:sp>
        <p:nvSpPr>
          <p:cNvPr id="3" name="文本框 2">
            <a:extLst>
              <a:ext uri="{FF2B5EF4-FFF2-40B4-BE49-F238E27FC236}">
                <a16:creationId xmlns:a16="http://schemas.microsoft.com/office/drawing/2014/main" id="{CDB2D520-BF92-D14C-8D1F-73118E6961AC}"/>
              </a:ext>
            </a:extLst>
          </p:cNvPr>
          <p:cNvSpPr txBox="1"/>
          <p:nvPr/>
        </p:nvSpPr>
        <p:spPr>
          <a:xfrm>
            <a:off x="5910949" y="6514765"/>
            <a:ext cx="370101" cy="343235"/>
          </a:xfrm>
          <a:prstGeom prst="rect">
            <a:avLst/>
          </a:prstGeom>
          <a:noFill/>
        </p:spPr>
        <p:txBody>
          <a:bodyPr wrap="none" rtlCol="0">
            <a:spAutoFit/>
          </a:bodyPr>
          <a:lstStyle/>
          <a:p>
            <a:pPr>
              <a:lnSpc>
                <a:spcPct val="130000"/>
              </a:lnSpc>
            </a:pPr>
            <a:r>
              <a:rPr kumimoji="1" lang="en-US" altLang="zh-CN" sz="1400" dirty="0">
                <a:latin typeface="Arial" panose="020B0604020202020204" pitchFamily="34" charset="0"/>
                <a:ea typeface="微软雅黑" panose="020B0503020204020204" pitchFamily="34" charset="-122"/>
              </a:rPr>
              <a:t>11</a:t>
            </a:r>
            <a:endParaRPr kumimoji="1" lang="zh-CN" altLang="en-US" sz="1400" dirty="0">
              <a:latin typeface="Arial" panose="020B0604020202020204" pitchFamily="34" charset="0"/>
              <a:ea typeface="微软雅黑" panose="020B0503020204020204" pitchFamily="34" charset="-122"/>
            </a:endParaRPr>
          </a:p>
        </p:txBody>
      </p:sp>
      <p:pic>
        <p:nvPicPr>
          <p:cNvPr id="4" name="图片 1">
            <a:extLst>
              <a:ext uri="{FF2B5EF4-FFF2-40B4-BE49-F238E27FC236}">
                <a16:creationId xmlns:a16="http://schemas.microsoft.com/office/drawing/2014/main" id="{9F52FDAC-DEA8-2A63-E2CA-893F9F0DDB10}"/>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DD39512-AD3A-4AF5-9077-715E2EF8ADA0}"/>
              </a:ext>
            </a:extLst>
          </p:cNvPr>
          <p:cNvSpPr txBox="1"/>
          <p:nvPr/>
        </p:nvSpPr>
        <p:spPr>
          <a:xfrm>
            <a:off x="339969" y="468923"/>
            <a:ext cx="4308231" cy="641714"/>
          </a:xfrm>
          <a:prstGeom prst="rect">
            <a:avLst/>
          </a:prstGeom>
          <a:noFill/>
        </p:spPr>
        <p:txBody>
          <a:bodyPr wrap="square" rtlCol="0">
            <a:spAutoFit/>
          </a:bodyPr>
          <a:lstStyle/>
          <a:p>
            <a:pPr>
              <a:lnSpc>
                <a:spcPct val="130000"/>
              </a:lnSpc>
            </a:pPr>
            <a:r>
              <a:rPr lang="zh-CN" altLang="en-US" sz="3200" dirty="0">
                <a:solidFill>
                  <a:schemeClr val="accent1">
                    <a:lumMod val="75000"/>
                  </a:schemeClr>
                </a:solidFill>
                <a:latin typeface="黑体" panose="02010609060101010101" pitchFamily="49" charset="-122"/>
                <a:ea typeface="黑体" panose="02010609060101010101" pitchFamily="49" charset="-122"/>
              </a:rPr>
              <a:t>研究方法</a:t>
            </a:r>
          </a:p>
        </p:txBody>
      </p:sp>
      <p:sp>
        <p:nvSpPr>
          <p:cNvPr id="3" name="文本框 2">
            <a:extLst>
              <a:ext uri="{FF2B5EF4-FFF2-40B4-BE49-F238E27FC236}">
                <a16:creationId xmlns:a16="http://schemas.microsoft.com/office/drawing/2014/main" id="{4528C2C6-2307-433E-A4B0-5665F2ABCC46}"/>
              </a:ext>
            </a:extLst>
          </p:cNvPr>
          <p:cNvSpPr txBox="1"/>
          <p:nvPr/>
        </p:nvSpPr>
        <p:spPr>
          <a:xfrm>
            <a:off x="5357446" y="6394939"/>
            <a:ext cx="410307" cy="343235"/>
          </a:xfrm>
          <a:prstGeom prst="rect">
            <a:avLst/>
          </a:prstGeom>
          <a:noFill/>
        </p:spPr>
        <p:txBody>
          <a:bodyPr wrap="square" rtlCol="0">
            <a:spAutoFit/>
          </a:bodyPr>
          <a:lstStyle/>
          <a:p>
            <a:pPr>
              <a:lnSpc>
                <a:spcPct val="130000"/>
              </a:lnSpc>
            </a:pPr>
            <a:r>
              <a:rPr lang="en-US" altLang="zh-CN" sz="1400" dirty="0">
                <a:latin typeface="Arial" panose="020B0604020202020204" pitchFamily="34" charset="0"/>
                <a:ea typeface="微软雅黑" panose="020B0503020204020204" pitchFamily="34" charset="-122"/>
              </a:rPr>
              <a:t>12</a:t>
            </a:r>
            <a:endParaRPr lang="zh-CN" altLang="en-US" sz="1400" dirty="0">
              <a:latin typeface="Arial" panose="020B0604020202020204" pitchFamily="34" charset="0"/>
              <a:ea typeface="微软雅黑" panose="020B0503020204020204" pitchFamily="34" charset="-122"/>
            </a:endParaRPr>
          </a:p>
        </p:txBody>
      </p:sp>
      <p:sp>
        <p:nvSpPr>
          <p:cNvPr id="5" name="Rectangle 1">
            <a:extLst>
              <a:ext uri="{FF2B5EF4-FFF2-40B4-BE49-F238E27FC236}">
                <a16:creationId xmlns:a16="http://schemas.microsoft.com/office/drawing/2014/main" id="{EC9DCB24-8D67-73E1-DF8C-4FF57D591366}"/>
              </a:ext>
            </a:extLst>
          </p:cNvPr>
          <p:cNvSpPr>
            <a:spLocks noChangeArrowheads="1"/>
          </p:cNvSpPr>
          <p:nvPr/>
        </p:nvSpPr>
        <p:spPr bwMode="auto">
          <a:xfrm>
            <a:off x="772978" y="1277702"/>
            <a:ext cx="10450194" cy="52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ts val="700"/>
              </a:spcBef>
              <a:spcAft>
                <a:spcPct val="0"/>
              </a:spcAft>
              <a:buClrTx/>
              <a:buSzTx/>
              <a:tabLst/>
            </a:pPr>
            <a:r>
              <a:rPr lang="zh-CN" altLang="zh-CN" sz="2000" dirty="0">
                <a:ea typeface="微软雅黑" panose="020B0503020204020204" pitchFamily="34" charset="-122"/>
              </a:rPr>
              <a:t>充分利用SFT数据集的</a:t>
            </a:r>
            <a:r>
              <a:rPr lang="zh-CN" altLang="zh-CN" sz="2000" b="1" dirty="0">
                <a:ea typeface="微软雅黑" panose="020B0503020204020204" pitchFamily="34" charset="-122"/>
              </a:rPr>
              <a:t>内在属性</a:t>
            </a:r>
            <a:r>
              <a:rPr lang="zh-CN" altLang="zh-CN" sz="2000" dirty="0">
                <a:ea typeface="微软雅黑" panose="020B0503020204020204" pitchFamily="34" charset="-122"/>
              </a:rPr>
              <a:t>，挖掘</a:t>
            </a:r>
            <a:r>
              <a:rPr lang="zh-CN" altLang="zh-CN" sz="2000" b="1" dirty="0">
                <a:ea typeface="微软雅黑" panose="020B0503020204020204" pitchFamily="34" charset="-122"/>
              </a:rPr>
              <a:t>难样本</a:t>
            </a:r>
            <a:r>
              <a:rPr lang="zh-CN" altLang="zh-CN" sz="2000" dirty="0">
                <a:ea typeface="微软雅黑" panose="020B0503020204020204" pitchFamily="34" charset="-122"/>
              </a:rPr>
              <a:t>并结合数据增强来提升微调效果。</a:t>
            </a:r>
          </a:p>
          <a:p>
            <a:pPr marL="0" marR="0" lvl="0" indent="0" algn="l" defTabSz="914400" rtl="0" eaLnBrk="0" fontAlgn="base" latinLnBrk="0" hangingPunct="0">
              <a:lnSpc>
                <a:spcPct val="130000"/>
              </a:lnSpc>
              <a:spcBef>
                <a:spcPts val="700"/>
              </a:spcBef>
              <a:spcAft>
                <a:spcPct val="0"/>
              </a:spcAft>
              <a:buClrTx/>
              <a:buSzTx/>
              <a:tabLst/>
            </a:pPr>
            <a:r>
              <a:rPr lang="zh-CN" altLang="zh-CN" sz="2000" b="1" dirty="0">
                <a:ea typeface="微软雅黑" panose="020B0503020204020204" pitchFamily="34" charset="-122"/>
              </a:rPr>
              <a:t>（1）针对数据成本高昂的问题</a:t>
            </a:r>
            <a:r>
              <a:rPr lang="zh-CN" altLang="en-US" sz="2000" b="1" dirty="0">
                <a:ea typeface="微软雅黑" panose="020B0503020204020204" pitchFamily="34" charset="-122"/>
              </a:rPr>
              <a:t>：</a:t>
            </a:r>
            <a:r>
              <a:rPr lang="zh-CN" altLang="zh-CN" sz="2000" dirty="0">
                <a:ea typeface="微软雅黑" panose="020B0503020204020204" pitchFamily="34" charset="-122"/>
              </a:rPr>
              <a:t>通过对现有数据进行</a:t>
            </a:r>
            <a:r>
              <a:rPr lang="zh-CN" altLang="en-US" sz="2000" dirty="0">
                <a:solidFill>
                  <a:srgbClr val="C00000"/>
                </a:solidFill>
                <a:ea typeface="微软雅黑" panose="020B0503020204020204" pitchFamily="34" charset="-122"/>
              </a:rPr>
              <a:t>自动</a:t>
            </a:r>
            <a:r>
              <a:rPr lang="zh-CN" altLang="zh-CN" sz="2000" dirty="0">
                <a:solidFill>
                  <a:srgbClr val="C00000"/>
                </a:solidFill>
                <a:ea typeface="微软雅黑" panose="020B0503020204020204" pitchFamily="34" charset="-122"/>
              </a:rPr>
              <a:t>评估</a:t>
            </a:r>
            <a:r>
              <a:rPr lang="zh-CN" altLang="zh-CN" sz="2000" dirty="0">
                <a:ea typeface="微软雅黑" panose="020B0503020204020204" pitchFamily="34" charset="-122"/>
              </a:rPr>
              <a:t>和</a:t>
            </a:r>
            <a:r>
              <a:rPr lang="zh-CN" altLang="zh-CN" sz="2000" dirty="0">
                <a:solidFill>
                  <a:srgbClr val="C00000"/>
                </a:solidFill>
                <a:ea typeface="微软雅黑" panose="020B0503020204020204" pitchFamily="34" charset="-122"/>
              </a:rPr>
              <a:t>优化训练顺序</a:t>
            </a:r>
            <a:r>
              <a:rPr lang="zh-CN" altLang="zh-CN" sz="2000" dirty="0">
                <a:ea typeface="微软雅黑" panose="020B0503020204020204" pitchFamily="34" charset="-122"/>
              </a:rPr>
              <a:t>，提升数据利用价值，间接降低对海量高质量新数据的需求</a:t>
            </a:r>
            <a:r>
              <a:rPr lang="zh-CN" altLang="en-US" sz="2000" dirty="0">
                <a:ea typeface="微软雅黑" panose="020B0503020204020204" pitchFamily="34" charset="-122"/>
              </a:rPr>
              <a:t>；</a:t>
            </a:r>
            <a:r>
              <a:rPr lang="zh-CN" altLang="zh-CN" sz="2000" dirty="0">
                <a:ea typeface="微软雅黑" panose="020B0503020204020204" pitchFamily="34" charset="-122"/>
              </a:rPr>
              <a:t>通过自动化生成</a:t>
            </a:r>
            <a:r>
              <a:rPr lang="zh-CN" altLang="zh-CN" sz="2000" dirty="0">
                <a:solidFill>
                  <a:srgbClr val="C00000"/>
                </a:solidFill>
                <a:ea typeface="微软雅黑" panose="020B0503020204020204" pitchFamily="34" charset="-122"/>
              </a:rPr>
              <a:t>反向</a:t>
            </a:r>
            <a:r>
              <a:rPr lang="zh-CN" altLang="zh-CN" sz="2000" dirty="0">
                <a:ea typeface="微软雅黑" panose="020B0503020204020204" pitchFamily="34" charset="-122"/>
              </a:rPr>
              <a:t>指令-响应对，以低成本方式扩充训练数据</a:t>
            </a:r>
            <a:r>
              <a:rPr lang="zh-CN" altLang="en-US" sz="2000" dirty="0">
                <a:ea typeface="微软雅黑" panose="020B0503020204020204" pitchFamily="34" charset="-122"/>
              </a:rPr>
              <a:t>，提升模型的</a:t>
            </a:r>
            <a:r>
              <a:rPr lang="zh-CN" altLang="en-US" sz="2000" dirty="0">
                <a:solidFill>
                  <a:srgbClr val="C00000"/>
                </a:solidFill>
                <a:ea typeface="微软雅黑" panose="020B0503020204020204" pitchFamily="34" charset="-122"/>
              </a:rPr>
              <a:t>逆向思维</a:t>
            </a:r>
            <a:r>
              <a:rPr lang="zh-CN" altLang="en-US" sz="2000" dirty="0">
                <a:ea typeface="微软雅黑" panose="020B0503020204020204" pitchFamily="34" charset="-122"/>
              </a:rPr>
              <a:t>能力。</a:t>
            </a:r>
            <a:endParaRPr lang="en-US" altLang="zh-CN" sz="2000" dirty="0">
              <a:ea typeface="微软雅黑" panose="020B0503020204020204" pitchFamily="34" charset="-122"/>
            </a:endParaRPr>
          </a:p>
          <a:p>
            <a:pPr lvl="0">
              <a:lnSpc>
                <a:spcPct val="130000"/>
              </a:lnSpc>
              <a:spcBef>
                <a:spcPts val="700"/>
              </a:spcBef>
            </a:pPr>
            <a:r>
              <a:rPr lang="zh-CN" altLang="zh-CN" sz="2000" b="1" dirty="0">
                <a:ea typeface="微软雅黑" panose="020B0503020204020204" pitchFamily="34" charset="-122"/>
              </a:rPr>
              <a:t>（2）针对数据利用率不足的问题： </a:t>
            </a:r>
            <a:r>
              <a:rPr lang="zh-CN" altLang="zh-CN" sz="2000" dirty="0">
                <a:ea typeface="微软雅黑" panose="020B0503020204020204" pitchFamily="34" charset="-122"/>
              </a:rPr>
              <a:t>使用奖励模型对原始SFT数据</a:t>
            </a:r>
            <a:r>
              <a:rPr lang="zh-CN" altLang="en-US" sz="2000" dirty="0">
                <a:ea typeface="微软雅黑" panose="020B0503020204020204" pitchFamily="34" charset="-122"/>
              </a:rPr>
              <a:t>和原始模型对于</a:t>
            </a:r>
            <a:r>
              <a:rPr lang="zh-CN" altLang="zh-CN" sz="2000" dirty="0">
                <a:ea typeface="微软雅黑" panose="020B0503020204020204" pitchFamily="34" charset="-122"/>
              </a:rPr>
              <a:t>相同指令生成</a:t>
            </a:r>
            <a:r>
              <a:rPr lang="zh-CN" altLang="en-US" sz="2000" dirty="0">
                <a:ea typeface="微软雅黑" panose="020B0503020204020204" pitchFamily="34" charset="-122"/>
              </a:rPr>
              <a:t>的</a:t>
            </a:r>
            <a:r>
              <a:rPr lang="zh-CN" altLang="zh-CN" sz="2000" dirty="0">
                <a:ea typeface="微软雅黑" panose="020B0503020204020204" pitchFamily="34" charset="-122"/>
              </a:rPr>
              <a:t>响应进行评分，计算</a:t>
            </a:r>
            <a:r>
              <a:rPr lang="zh-CN" altLang="zh-CN" sz="2000" dirty="0">
                <a:solidFill>
                  <a:srgbClr val="C00000"/>
                </a:solidFill>
                <a:ea typeface="微软雅黑" panose="020B0503020204020204" pitchFamily="34" charset="-122"/>
              </a:rPr>
              <a:t>分数差异 </a:t>
            </a:r>
            <a:r>
              <a:rPr lang="zh-CN" altLang="zh-CN" sz="2000" dirty="0">
                <a:ea typeface="微软雅黑" panose="020B0503020204020204" pitchFamily="34" charset="-122"/>
              </a:rPr>
              <a:t>ΔSi​。分数差异越大，表示LLM的</a:t>
            </a:r>
            <a:r>
              <a:rPr lang="zh-CN" altLang="zh-CN" sz="2000" dirty="0">
                <a:solidFill>
                  <a:srgbClr val="C00000"/>
                </a:solidFill>
                <a:ea typeface="微软雅黑" panose="020B0503020204020204" pitchFamily="34" charset="-122"/>
              </a:rPr>
              <a:t>对齐差距</a:t>
            </a:r>
            <a:r>
              <a:rPr lang="zh-CN" altLang="zh-CN" sz="2000" dirty="0">
                <a:ea typeface="微软雅黑" panose="020B0503020204020204" pitchFamily="34" charset="-122"/>
              </a:rPr>
              <a:t>越大，样本越难。根据</a:t>
            </a:r>
            <a:r>
              <a:rPr lang="zh-CN" altLang="en-US" sz="2000" dirty="0">
                <a:ea typeface="微软雅黑" panose="020B0503020204020204" pitchFamily="34" charset="-122"/>
              </a:rPr>
              <a:t>对齐差距</a:t>
            </a:r>
            <a:r>
              <a:rPr lang="zh-CN" altLang="zh-CN" sz="2000" dirty="0">
                <a:ea typeface="微软雅黑" panose="020B0503020204020204" pitchFamily="34" charset="-122"/>
              </a:rPr>
              <a:t>将</a:t>
            </a:r>
            <a:r>
              <a:rPr lang="zh-CN" altLang="zh-CN" sz="2000" dirty="0">
                <a:solidFill>
                  <a:srgbClr val="C00000"/>
                </a:solidFill>
                <a:ea typeface="微软雅黑" panose="020B0503020204020204" pitchFamily="34" charset="-122"/>
              </a:rPr>
              <a:t>难样本</a:t>
            </a:r>
            <a:r>
              <a:rPr lang="zh-CN" altLang="zh-CN" sz="2000" dirty="0">
                <a:ea typeface="微软雅黑" panose="020B0503020204020204" pitchFamily="34" charset="-122"/>
              </a:rPr>
              <a:t>置于训练</a:t>
            </a:r>
            <a:r>
              <a:rPr lang="zh-CN" altLang="zh-CN" sz="2000" dirty="0">
                <a:solidFill>
                  <a:srgbClr val="C00000"/>
                </a:solidFill>
                <a:ea typeface="微软雅黑" panose="020B0503020204020204" pitchFamily="34" charset="-122"/>
              </a:rPr>
              <a:t>后期</a:t>
            </a:r>
            <a:r>
              <a:rPr lang="zh-CN" altLang="en-US" sz="2000" dirty="0">
                <a:ea typeface="微软雅黑" panose="020B0503020204020204" pitchFamily="34" charset="-122"/>
              </a:rPr>
              <a:t>，</a:t>
            </a:r>
            <a:r>
              <a:rPr lang="zh-CN" altLang="zh-CN" sz="2000" dirty="0">
                <a:ea typeface="微软雅黑" panose="020B0503020204020204" pitchFamily="34" charset="-122"/>
              </a:rPr>
              <a:t>减少模型</a:t>
            </a:r>
            <a:r>
              <a:rPr lang="zh-CN" altLang="en-US" sz="2000" dirty="0">
                <a:ea typeface="微软雅黑" panose="020B0503020204020204" pitchFamily="34" charset="-122"/>
              </a:rPr>
              <a:t>对困难</a:t>
            </a:r>
            <a:r>
              <a:rPr lang="zh-CN" altLang="zh-CN" sz="2000" dirty="0">
                <a:ea typeface="微软雅黑" panose="020B0503020204020204" pitchFamily="34" charset="-122"/>
              </a:rPr>
              <a:t>样本</a:t>
            </a:r>
            <a:r>
              <a:rPr lang="zh-CN" altLang="en-US" sz="2000" dirty="0">
                <a:ea typeface="微软雅黑" panose="020B0503020204020204" pitchFamily="34" charset="-122"/>
              </a:rPr>
              <a:t>的</a:t>
            </a:r>
            <a:r>
              <a:rPr lang="zh-CN" altLang="zh-CN" sz="2000" dirty="0">
                <a:solidFill>
                  <a:srgbClr val="C00000"/>
                </a:solidFill>
                <a:ea typeface="微软雅黑" panose="020B0503020204020204" pitchFamily="34" charset="-122"/>
              </a:rPr>
              <a:t>遗忘</a:t>
            </a:r>
            <a:r>
              <a:rPr lang="zh-CN" altLang="zh-CN" sz="2000" dirty="0">
                <a:ea typeface="微软雅黑" panose="020B0503020204020204" pitchFamily="34" charset="-122"/>
              </a:rPr>
              <a:t>。</a:t>
            </a:r>
            <a:endParaRPr lang="en-US" altLang="zh-CN" sz="2000" dirty="0">
              <a:ea typeface="微软雅黑" panose="020B0503020204020204" pitchFamily="34" charset="-122"/>
            </a:endParaRPr>
          </a:p>
          <a:p>
            <a:pPr marL="0" marR="0" lvl="0" indent="0" algn="l" defTabSz="914400" rtl="0" eaLnBrk="0" fontAlgn="base" latinLnBrk="0" hangingPunct="0">
              <a:lnSpc>
                <a:spcPct val="130000"/>
              </a:lnSpc>
              <a:spcBef>
                <a:spcPts val="700"/>
              </a:spcBef>
              <a:spcAft>
                <a:spcPct val="0"/>
              </a:spcAft>
              <a:buClrTx/>
              <a:buSzTx/>
              <a:tabLst/>
            </a:pPr>
            <a:r>
              <a:rPr lang="zh-CN" altLang="zh-CN" sz="2000" b="1" dirty="0">
                <a:ea typeface="微软雅黑" panose="020B0503020204020204" pitchFamily="34" charset="-122"/>
              </a:rPr>
              <a:t>（3）针对模型过拟合与欠拟合的问题： </a:t>
            </a:r>
            <a:r>
              <a:rPr lang="zh-CN" altLang="zh-CN" sz="2000" dirty="0">
                <a:ea typeface="微软雅黑" panose="020B0503020204020204" pitchFamily="34" charset="-122"/>
              </a:rPr>
              <a:t>通过动态调整每个样本的</a:t>
            </a:r>
            <a:r>
              <a:rPr lang="zh-CN" altLang="zh-CN" sz="2000" dirty="0">
                <a:solidFill>
                  <a:srgbClr val="C00000"/>
                </a:solidFill>
                <a:ea typeface="微软雅黑" panose="020B0503020204020204" pitchFamily="34" charset="-122"/>
              </a:rPr>
              <a:t>训练轮次</a:t>
            </a:r>
            <a:r>
              <a:rPr lang="zh-CN" altLang="zh-CN" sz="2000" dirty="0">
                <a:ea typeface="微软雅黑" panose="020B0503020204020204" pitchFamily="34" charset="-122"/>
              </a:rPr>
              <a:t>，确保难样本获得</a:t>
            </a:r>
            <a:r>
              <a:rPr lang="zh-CN" altLang="zh-CN" sz="2000" dirty="0">
                <a:solidFill>
                  <a:srgbClr val="C00000"/>
                </a:solidFill>
                <a:ea typeface="微软雅黑" panose="020B0503020204020204" pitchFamily="34" charset="-122"/>
              </a:rPr>
              <a:t>充分学习</a:t>
            </a:r>
            <a:r>
              <a:rPr lang="zh-CN" altLang="zh-CN" sz="2000" dirty="0">
                <a:ea typeface="微软雅黑" panose="020B0503020204020204" pitchFamily="34" charset="-122"/>
              </a:rPr>
              <a:t>，同时避免对简单样本的</a:t>
            </a:r>
            <a:r>
              <a:rPr lang="zh-CN" altLang="zh-CN" sz="2000" dirty="0">
                <a:solidFill>
                  <a:srgbClr val="C00000"/>
                </a:solidFill>
                <a:ea typeface="微软雅黑" panose="020B0503020204020204" pitchFamily="34" charset="-122"/>
              </a:rPr>
              <a:t>过度训练</a:t>
            </a:r>
            <a:r>
              <a:rPr lang="zh-CN" altLang="zh-CN" sz="2000" dirty="0">
                <a:ea typeface="微软雅黑" panose="020B0503020204020204" pitchFamily="34" charset="-122"/>
              </a:rPr>
              <a:t>，从而提升模型的整体泛化能力。</a:t>
            </a:r>
          </a:p>
          <a:p>
            <a:pPr marL="0" marR="0" lvl="0" indent="0" algn="l" defTabSz="914400" rtl="0" eaLnBrk="0" fontAlgn="base" latinLnBrk="0" hangingPunct="0">
              <a:lnSpc>
                <a:spcPct val="130000"/>
              </a:lnSpc>
              <a:spcBef>
                <a:spcPts val="700"/>
              </a:spcBef>
              <a:spcAft>
                <a:spcPct val="0"/>
              </a:spcAft>
              <a:buClrTx/>
              <a:buSzTx/>
              <a:tabLst/>
            </a:pPr>
            <a:r>
              <a:rPr lang="zh-CN" altLang="zh-CN" sz="2000" b="1" dirty="0">
                <a:ea typeface="微软雅黑" panose="020B0503020204020204" pitchFamily="34" charset="-122"/>
              </a:rPr>
              <a:t>（4）针对缺乏对数据内在属性充分利用的问题： </a:t>
            </a:r>
            <a:r>
              <a:rPr lang="zh-CN" altLang="zh-CN" sz="2000" dirty="0">
                <a:ea typeface="微软雅黑" panose="020B0503020204020204" pitchFamily="34" charset="-122"/>
              </a:rPr>
              <a:t>利用奖励模型对样本进行细粒度评分，从而更精确地识别和利用难样本的</a:t>
            </a:r>
            <a:r>
              <a:rPr lang="zh-CN" altLang="zh-CN" sz="2000" dirty="0">
                <a:solidFill>
                  <a:srgbClr val="C00000"/>
                </a:solidFill>
                <a:ea typeface="微软雅黑" panose="020B0503020204020204" pitchFamily="34" charset="-122"/>
              </a:rPr>
              <a:t>内在属性</a:t>
            </a:r>
            <a:r>
              <a:rPr lang="zh-CN" altLang="zh-CN" sz="2000" dirty="0">
                <a:ea typeface="微软雅黑" panose="020B0503020204020204" pitchFamily="34" charset="-122"/>
              </a:rPr>
              <a:t>（难度、对齐差距），而非简单地过滤或丢弃。</a:t>
            </a:r>
          </a:p>
          <a:p>
            <a:pPr marL="0" marR="0" lvl="0" indent="0" algn="l" defTabSz="914400" rtl="0" eaLnBrk="0" fontAlgn="base" latinLnBrk="0" hangingPunct="0">
              <a:lnSpc>
                <a:spcPct val="130000"/>
              </a:lnSpc>
              <a:spcBef>
                <a:spcPts val="700"/>
              </a:spcBef>
              <a:spcAft>
                <a:spcPct val="0"/>
              </a:spcAft>
              <a:buClrTx/>
              <a:buSzTx/>
              <a:buFontTx/>
              <a:buNone/>
              <a:tabLst/>
            </a:pPr>
            <a:endParaRPr kumimoji="0" lang="zh-CN" altLang="zh-CN" sz="18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4" name="图片 1">
            <a:extLst>
              <a:ext uri="{FF2B5EF4-FFF2-40B4-BE49-F238E27FC236}">
                <a16:creationId xmlns:a16="http://schemas.microsoft.com/office/drawing/2014/main" id="{8392EDCB-91B4-74BB-BCCE-0EBACCCB6396}"/>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504714" y="0"/>
            <a:ext cx="1687286" cy="1697966"/>
          </a:xfrm>
          <a:prstGeom prst="rect">
            <a:avLst/>
          </a:prstGeom>
        </p:spPr>
      </p:pic>
    </p:spTree>
    <p:extLst>
      <p:ext uri="{BB962C8B-B14F-4D97-AF65-F5344CB8AC3E}">
        <p14:creationId xmlns:p14="http://schemas.microsoft.com/office/powerpoint/2010/main" val="1383408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a:xfrm>
            <a:off x="584200" y="273050"/>
            <a:ext cx="4619625" cy="698500"/>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3000" b="1" kern="1200">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a:latin typeface="Arial" panose="020B0604020202020204" pitchFamily="34" charset="0"/>
                <a:ea typeface="黑体" panose="02010609060101010101" pitchFamily="49" charset="-122"/>
                <a:cs typeface="+mj-cs"/>
              </a:defRPr>
            </a:lvl1pPr>
            <a:lvl2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2pPr>
            <a:lvl3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3pPr>
            <a:lvl4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4pPr>
            <a:lvl5pPr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5pPr>
            <a:lvl6pPr marL="4572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6pPr>
            <a:lvl7pPr marL="9144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7pPr>
            <a:lvl8pPr marL="13716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8pPr>
            <a:lvl9pPr marL="1828800" algn="l" rtl="0" fontAlgn="base">
              <a:lnSpc>
                <a:spcPct val="90000"/>
              </a:lnSpc>
              <a:spcBef>
                <a:spcPct val="0"/>
              </a:spcBef>
              <a:spcAft>
                <a:spcPct val="0"/>
              </a:spcAft>
              <a:defRPr sz="3000" b="1">
                <a:solidFill>
                  <a:schemeClr val="tx1"/>
                </a:solidFill>
                <a:latin typeface="Arial" panose="020B0604020202020204" pitchFamily="34" charset="0"/>
                <a:ea typeface="黑体" panose="02010609060101010101" pitchFamily="49" charset="-122"/>
              </a:defRPr>
            </a:lvl9pPr>
          </a:lstStyle>
          <a:p>
            <a:r>
              <a:rPr lang="zh-CN" altLang="en-US" dirty="0"/>
              <a:t>研究计划</a:t>
            </a:r>
            <a:endParaRPr lang="en-US" altLang="zh-CN" dirty="0"/>
          </a:p>
        </p:txBody>
      </p:sp>
      <p:pic>
        <p:nvPicPr>
          <p:cNvPr id="16" name="图片 15" descr="校徽"/>
          <p:cNvPicPr>
            <a:picLocks noChangeAspect="1"/>
          </p:cNvPicPr>
          <p:nvPr/>
        </p:nvPicPr>
        <p:blipFill>
          <a:blip r:embed="rId4"/>
          <a:stretch>
            <a:fillRect/>
          </a:stretch>
        </p:blipFill>
        <p:spPr>
          <a:xfrm>
            <a:off x="10744200" y="158750"/>
            <a:ext cx="1287780" cy="1287780"/>
          </a:xfrm>
          <a:prstGeom prst="rect">
            <a:avLst/>
          </a:prstGeom>
        </p:spPr>
      </p:pic>
      <p:sp>
        <p:nvSpPr>
          <p:cNvPr id="5" name="文本框 4"/>
          <p:cNvSpPr txBox="1"/>
          <p:nvPr/>
        </p:nvSpPr>
        <p:spPr>
          <a:xfrm>
            <a:off x="650239" y="1267866"/>
            <a:ext cx="10655070" cy="5254259"/>
          </a:xfrm>
          <a:prstGeom prst="rect">
            <a:avLst/>
          </a:prstGeom>
          <a:noFill/>
        </p:spPr>
        <p:txBody>
          <a:bodyPr wrap="square" rtlCol="0">
            <a:spAutoFit/>
          </a:bodyPr>
          <a:lstStyle/>
          <a:p>
            <a:pPr>
              <a:lnSpc>
                <a:spcPct val="130000"/>
              </a:lnSpc>
            </a:pPr>
            <a:r>
              <a:rPr lang="en-US" altLang="zh-CN" sz="2000" dirty="0">
                <a:latin typeface="Arial" panose="020B0604020202020204" pitchFamily="34" charset="0"/>
                <a:ea typeface="微软雅黑" panose="020B0503020204020204" pitchFamily="34" charset="-122"/>
              </a:rPr>
              <a:t>1.</a:t>
            </a:r>
            <a:r>
              <a:rPr lang="zh-CN" altLang="en-US" sz="2000" dirty="0">
                <a:latin typeface="Arial" panose="020B0604020202020204" pitchFamily="34" charset="0"/>
                <a:ea typeface="微软雅黑" panose="020B0503020204020204" pitchFamily="34" charset="-122"/>
              </a:rPr>
              <a:t>理论准备（</a:t>
            </a:r>
            <a:r>
              <a:rPr lang="en-US" altLang="zh-CN" sz="2000" dirty="0"/>
              <a:t>2025</a:t>
            </a:r>
            <a:r>
              <a:rPr lang="en-US" altLang="zh-CN" sz="2000" dirty="0">
                <a:latin typeface="Arial" panose="020B0604020202020204" pitchFamily="34" charset="0"/>
                <a:ea typeface="微软雅黑" panose="020B0503020204020204" pitchFamily="34" charset="-122"/>
              </a:rPr>
              <a:t>.09 – </a:t>
            </a:r>
            <a:r>
              <a:rPr lang="en-US" altLang="zh-CN" sz="2000" dirty="0"/>
              <a:t>2025.</a:t>
            </a:r>
            <a:r>
              <a:rPr lang="en-US" altLang="zh-CN" sz="2000" dirty="0">
                <a:latin typeface="Arial" panose="020B0604020202020204" pitchFamily="34" charset="0"/>
                <a:ea typeface="微软雅黑" panose="020B0503020204020204" pitchFamily="34" charset="-122"/>
              </a:rPr>
              <a:t>12</a:t>
            </a:r>
            <a:r>
              <a:rPr lang="zh-CN" altLang="en-US" sz="2000" dirty="0">
                <a:latin typeface="Arial" panose="020B0604020202020204" pitchFamily="34" charset="0"/>
                <a:ea typeface="微软雅黑" panose="020B0503020204020204" pitchFamily="34" charset="-122"/>
              </a:rPr>
              <a:t>）</a:t>
            </a:r>
          </a:p>
          <a:p>
            <a:pPr>
              <a:lnSpc>
                <a:spcPct val="130000"/>
              </a:lnSpc>
            </a:pPr>
            <a:r>
              <a:rPr lang="zh-CN" altLang="en-US" sz="1400" dirty="0">
                <a:latin typeface="Arial" panose="020B0604020202020204" pitchFamily="34" charset="0"/>
                <a:ea typeface="微软雅黑" panose="020B0503020204020204" pitchFamily="34" charset="-122"/>
              </a:rPr>
              <a:t>           </a:t>
            </a:r>
            <a:r>
              <a:rPr lang="zh-CN" altLang="en-US" sz="2000" dirty="0">
                <a:latin typeface="Arial" panose="020B0604020202020204" pitchFamily="34" charset="0"/>
                <a:ea typeface="微软雅黑" panose="020B0503020204020204" pitchFamily="34" charset="-122"/>
              </a:rPr>
              <a:t>本阶段主要工作是深入阅读文献，学习大语言模型参数微调与数据优化相关算法的核心思想，为后续工作奠定理论基础。</a:t>
            </a:r>
            <a:endParaRPr lang="en-US" altLang="zh-CN" sz="2000" dirty="0">
              <a:latin typeface="Arial" panose="020B0604020202020204" pitchFamily="34" charset="0"/>
              <a:ea typeface="微软雅黑" panose="020B0503020204020204" pitchFamily="34" charset="-122"/>
            </a:endParaRPr>
          </a:p>
          <a:p>
            <a:pPr>
              <a:lnSpc>
                <a:spcPct val="130000"/>
              </a:lnSpc>
            </a:pPr>
            <a:endParaRPr lang="zh-CN" altLang="en-US" sz="2000" dirty="0">
              <a:latin typeface="Arial" panose="020B0604020202020204" pitchFamily="34" charset="0"/>
              <a:ea typeface="微软雅黑" panose="020B0503020204020204" pitchFamily="34" charset="-122"/>
            </a:endParaRPr>
          </a:p>
          <a:p>
            <a:pPr>
              <a:lnSpc>
                <a:spcPct val="130000"/>
              </a:lnSpc>
            </a:pPr>
            <a:r>
              <a:rPr lang="en-US" altLang="zh-CN" sz="2000" dirty="0">
                <a:latin typeface="Arial" panose="020B0604020202020204" pitchFamily="34" charset="0"/>
                <a:ea typeface="微软雅黑" panose="020B0503020204020204" pitchFamily="34" charset="-122"/>
              </a:rPr>
              <a:t>2.</a:t>
            </a:r>
            <a:r>
              <a:rPr lang="zh-CN" altLang="en-US" sz="2000" dirty="0">
                <a:latin typeface="Arial" panose="020B0604020202020204" pitchFamily="34" charset="0"/>
                <a:ea typeface="微软雅黑" panose="020B0503020204020204" pitchFamily="34" charset="-122"/>
              </a:rPr>
              <a:t>数据收集（</a:t>
            </a:r>
            <a:r>
              <a:rPr lang="en-US" altLang="zh-CN" sz="2000" dirty="0">
                <a:latin typeface="Arial" panose="020B0604020202020204" pitchFamily="34" charset="0"/>
                <a:ea typeface="微软雅黑" panose="020B0503020204020204" pitchFamily="34" charset="-122"/>
              </a:rPr>
              <a:t>2026.01 - 2026.02</a:t>
            </a:r>
            <a:r>
              <a:rPr lang="zh-CN" altLang="en-US" sz="2000" dirty="0">
                <a:latin typeface="Arial" panose="020B0604020202020204" pitchFamily="34" charset="0"/>
                <a:ea typeface="微软雅黑" panose="020B0503020204020204" pitchFamily="34" charset="-122"/>
              </a:rPr>
              <a:t>）</a:t>
            </a:r>
          </a:p>
          <a:p>
            <a:pPr>
              <a:lnSpc>
                <a:spcPct val="130000"/>
              </a:lnSpc>
            </a:pPr>
            <a:r>
              <a:rPr lang="zh-CN" altLang="en-US" sz="2000" dirty="0">
                <a:latin typeface="Arial" panose="020B0604020202020204" pitchFamily="34" charset="0"/>
                <a:ea typeface="微软雅黑" panose="020B0503020204020204" pitchFamily="34" charset="-122"/>
              </a:rPr>
              <a:t>        本阶段主要</a:t>
            </a:r>
            <a:r>
              <a:rPr lang="zh-CN" altLang="en-US" sz="2000" dirty="0">
                <a:ea typeface="微软雅黑" panose="020B0503020204020204" pitchFamily="34" charset="-122"/>
              </a:rPr>
              <a:t>工作</a:t>
            </a:r>
            <a:r>
              <a:rPr lang="zh-CN" altLang="en-US" sz="2000" dirty="0">
                <a:latin typeface="Arial" panose="020B0604020202020204" pitchFamily="34" charset="0"/>
                <a:ea typeface="微软雅黑" panose="020B0503020204020204" pitchFamily="34" charset="-122"/>
              </a:rPr>
              <a:t>是</a:t>
            </a:r>
            <a:r>
              <a:rPr lang="zh-CN" altLang="en-US" sz="2000" dirty="0">
                <a:ea typeface="微软雅黑" panose="020B0503020204020204" pitchFamily="34" charset="-122"/>
              </a:rPr>
              <a:t>调研和</a:t>
            </a:r>
            <a:r>
              <a:rPr lang="zh-CN" altLang="en-US" sz="2000" dirty="0">
                <a:latin typeface="Arial" panose="020B0604020202020204" pitchFamily="34" charset="0"/>
                <a:ea typeface="微软雅黑" panose="020B0503020204020204" pitchFamily="34" charset="-122"/>
              </a:rPr>
              <a:t>准备常用训练数据集，并根据研究需求进行数据增强和预处理。</a:t>
            </a:r>
            <a:endParaRPr lang="en-US" altLang="zh-CN" sz="2000" dirty="0">
              <a:latin typeface="Arial" panose="020B0604020202020204" pitchFamily="34" charset="0"/>
              <a:ea typeface="微软雅黑" panose="020B0503020204020204" pitchFamily="34" charset="-122"/>
            </a:endParaRPr>
          </a:p>
          <a:p>
            <a:pPr>
              <a:lnSpc>
                <a:spcPct val="130000"/>
              </a:lnSpc>
            </a:pPr>
            <a:endParaRPr lang="en-US" altLang="zh-CN" sz="2000" dirty="0">
              <a:latin typeface="Arial" panose="020B0604020202020204" pitchFamily="34" charset="0"/>
              <a:ea typeface="微软雅黑" panose="020B0503020204020204" pitchFamily="34" charset="-122"/>
            </a:endParaRPr>
          </a:p>
          <a:p>
            <a:pPr>
              <a:lnSpc>
                <a:spcPct val="130000"/>
              </a:lnSpc>
            </a:pPr>
            <a:r>
              <a:rPr lang="en-US" altLang="zh-CN" sz="2000" dirty="0">
                <a:ea typeface="微软雅黑" panose="020B0503020204020204" pitchFamily="34" charset="-122"/>
              </a:rPr>
              <a:t>3.</a:t>
            </a:r>
            <a:r>
              <a:rPr lang="zh-CN" altLang="en-US" sz="2000" dirty="0">
                <a:ea typeface="微软雅黑" panose="020B0503020204020204" pitchFamily="34" charset="-122"/>
              </a:rPr>
              <a:t>模型构建和实验阶段（</a:t>
            </a:r>
            <a:r>
              <a:rPr lang="en-US" altLang="zh-CN" sz="2000" dirty="0">
                <a:ea typeface="微软雅黑" panose="020B0503020204020204" pitchFamily="34" charset="-122"/>
              </a:rPr>
              <a:t>2026.02 - 2026.06</a:t>
            </a:r>
            <a:r>
              <a:rPr lang="zh-CN" altLang="en-US" sz="2000" dirty="0">
                <a:ea typeface="微软雅黑" panose="020B0503020204020204" pitchFamily="34" charset="-122"/>
              </a:rPr>
              <a:t>）</a:t>
            </a:r>
          </a:p>
          <a:p>
            <a:pPr>
              <a:lnSpc>
                <a:spcPct val="130000"/>
              </a:lnSpc>
            </a:pPr>
            <a:r>
              <a:rPr lang="zh-CN" altLang="en-US" sz="2000" dirty="0">
                <a:ea typeface="微软雅黑" panose="020B0503020204020204" pitchFamily="34" charset="-122"/>
              </a:rPr>
              <a:t>        本阶段主要工作是设计并实现大语言模型参数微调数据优化算法，进行模型训练与测试，并与现有工作进行比较</a:t>
            </a:r>
            <a:endParaRPr lang="en-US" altLang="zh-CN" sz="2000" dirty="0">
              <a:ea typeface="微软雅黑" panose="020B0503020204020204" pitchFamily="34" charset="-122"/>
            </a:endParaRPr>
          </a:p>
          <a:p>
            <a:pPr>
              <a:lnSpc>
                <a:spcPct val="130000"/>
              </a:lnSpc>
            </a:pPr>
            <a:endParaRPr lang="en-US" altLang="zh-CN" sz="2000" dirty="0">
              <a:ea typeface="微软雅黑" panose="020B0503020204020204" pitchFamily="34" charset="-122"/>
            </a:endParaRPr>
          </a:p>
          <a:p>
            <a:pPr>
              <a:lnSpc>
                <a:spcPct val="130000"/>
              </a:lnSpc>
            </a:pPr>
            <a:r>
              <a:rPr lang="en-US" altLang="zh-CN" sz="2000" dirty="0">
                <a:ea typeface="微软雅黑" panose="020B0503020204020204" pitchFamily="34" charset="-122"/>
              </a:rPr>
              <a:t>4.</a:t>
            </a:r>
            <a:r>
              <a:rPr lang="zh-CN" altLang="en-US" sz="2000" dirty="0">
                <a:ea typeface="微软雅黑" panose="020B0503020204020204" pitchFamily="34" charset="-122"/>
              </a:rPr>
              <a:t>撰写论文（</a:t>
            </a:r>
            <a:r>
              <a:rPr lang="en-US" altLang="zh-CN" sz="2000" dirty="0">
                <a:ea typeface="微软雅黑" panose="020B0503020204020204" pitchFamily="34" charset="-122"/>
              </a:rPr>
              <a:t>2026.07 - 2026.12</a:t>
            </a:r>
            <a:r>
              <a:rPr lang="zh-CN" altLang="en-US" sz="2000" dirty="0">
                <a:ea typeface="微软雅黑" panose="020B0503020204020204" pitchFamily="34" charset="-122"/>
              </a:rPr>
              <a:t>）</a:t>
            </a:r>
          </a:p>
          <a:p>
            <a:pPr>
              <a:lnSpc>
                <a:spcPct val="130000"/>
              </a:lnSpc>
            </a:pPr>
            <a:r>
              <a:rPr lang="zh-CN" altLang="en-US" sz="2000" dirty="0">
                <a:ea typeface="微软雅黑" panose="020B0503020204020204" pitchFamily="34" charset="-122"/>
              </a:rPr>
              <a:t>       本阶段主要工作是根据实验结果撰写毕业论文。</a:t>
            </a:r>
            <a:endParaRPr lang="en-US" altLang="zh-CN" sz="2000" dirty="0">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575E0EFD-DF08-E546-BC7E-9EBDF58A4758}"/>
              </a:ext>
            </a:extLst>
          </p:cNvPr>
          <p:cNvSpPr txBox="1"/>
          <p:nvPr/>
        </p:nvSpPr>
        <p:spPr>
          <a:xfrm>
            <a:off x="5203825" y="6514765"/>
            <a:ext cx="383438" cy="343235"/>
          </a:xfrm>
          <a:prstGeom prst="rect">
            <a:avLst/>
          </a:prstGeom>
          <a:noFill/>
        </p:spPr>
        <p:txBody>
          <a:bodyPr wrap="none" rtlCol="0">
            <a:spAutoFit/>
          </a:bodyPr>
          <a:lstStyle/>
          <a:p>
            <a:pPr>
              <a:lnSpc>
                <a:spcPct val="130000"/>
              </a:lnSpc>
            </a:pPr>
            <a:r>
              <a:rPr kumimoji="1" lang="en-US" altLang="zh-CN" sz="1400" dirty="0">
                <a:latin typeface="Arial" panose="020B0604020202020204" pitchFamily="34" charset="0"/>
                <a:ea typeface="微软雅黑" panose="020B0503020204020204" pitchFamily="34" charset="-122"/>
              </a:rPr>
              <a:t>13</a:t>
            </a:r>
            <a:endParaRPr kumimoji="1" lang="zh-CN" altLang="en-US" sz="1400" dirty="0">
              <a:latin typeface="Arial" panose="020B0604020202020204" pitchFamily="34" charset="0"/>
              <a:ea typeface="微软雅黑" panose="020B0503020204020204" pitchFamily="34" charset="-122"/>
            </a:endParaRPr>
          </a:p>
        </p:txBody>
      </p:sp>
      <p:pic>
        <p:nvPicPr>
          <p:cNvPr id="4" name="图片 1">
            <a:extLst>
              <a:ext uri="{FF2B5EF4-FFF2-40B4-BE49-F238E27FC236}">
                <a16:creationId xmlns:a16="http://schemas.microsoft.com/office/drawing/2014/main" id="{EE672512-D43C-A27E-0F0B-DF8930252EE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0504714" y="0"/>
            <a:ext cx="1687286" cy="1697966"/>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矩形 32"/>
          <p:cNvSpPr>
            <a:spLocks noChangeArrowheads="1"/>
          </p:cNvSpPr>
          <p:nvPr>
            <p:custDataLst>
              <p:tags r:id="rId2"/>
            </p:custDataLst>
          </p:nvPr>
        </p:nvSpPr>
        <p:spPr bwMode="auto">
          <a:xfrm>
            <a:off x="3439014" y="2564606"/>
            <a:ext cx="5505694"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ormAutofit fontScale="92500" lnSpcReduction="10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6000" dirty="0">
                <a:solidFill>
                  <a:schemeClr val="bg1"/>
                </a:solidFill>
                <a:latin typeface="+mj-lt"/>
                <a:ea typeface="+mj-ea"/>
                <a:cs typeface="+mj-cs"/>
              </a:rPr>
              <a:t>感谢聆听</a:t>
            </a:r>
            <a:endParaRPr lang="en-US" altLang="zh-CN" sz="6000" dirty="0">
              <a:solidFill>
                <a:schemeClr val="bg1"/>
              </a:solidFill>
              <a:latin typeface="+mj-lt"/>
              <a:ea typeface="+mj-ea"/>
              <a:cs typeface="+mj-cs"/>
            </a:endParaRPr>
          </a:p>
          <a:p>
            <a:pPr algn="ctr" eaLnBrk="1" hangingPunct="1"/>
            <a:r>
              <a:rPr lang="zh-CN" altLang="en-US" sz="6000" dirty="0">
                <a:solidFill>
                  <a:schemeClr val="bg1"/>
                </a:solidFill>
                <a:latin typeface="+mj-lt"/>
                <a:ea typeface="+mj-ea"/>
                <a:cs typeface="+mj-cs"/>
              </a:rPr>
              <a:t>请批评指正</a:t>
            </a:r>
            <a:endParaRPr lang="en-US" altLang="zh-CN" sz="6000" dirty="0">
              <a:solidFill>
                <a:schemeClr val="bg1"/>
              </a:solidFill>
              <a:latin typeface="+mj-lt"/>
              <a:ea typeface="+mj-ea"/>
              <a:cs typeface="+mj-cs"/>
            </a:endParaRPr>
          </a:p>
        </p:txBody>
      </p:sp>
      <p:pic>
        <p:nvPicPr>
          <p:cNvPr id="16" name="图片 15" descr="校徽"/>
          <p:cNvPicPr>
            <a:picLocks noChangeAspect="1"/>
          </p:cNvPicPr>
          <p:nvPr/>
        </p:nvPicPr>
        <p:blipFill>
          <a:blip r:embed="rId5"/>
          <a:stretch>
            <a:fillRect/>
          </a:stretch>
        </p:blipFill>
        <p:spPr>
          <a:xfrm>
            <a:off x="10744200" y="158750"/>
            <a:ext cx="1287780" cy="1287780"/>
          </a:xfrm>
          <a:prstGeom prst="rect">
            <a:avLst/>
          </a:prstGeom>
        </p:spPr>
      </p:pic>
      <p:pic>
        <p:nvPicPr>
          <p:cNvPr id="2" name="图片 1">
            <a:extLst>
              <a:ext uri="{FF2B5EF4-FFF2-40B4-BE49-F238E27FC236}">
                <a16:creationId xmlns:a16="http://schemas.microsoft.com/office/drawing/2014/main" id="{290620D9-A803-FD82-3A33-8AE324EB38B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504714" y="0"/>
            <a:ext cx="1687286" cy="1697966"/>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335"/>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335"/>
</p:tagLst>
</file>

<file path=ppt/tags/tag3.xml><?xml version="1.0" encoding="utf-8"?>
<p:tagLst xmlns:a="http://schemas.openxmlformats.org/drawingml/2006/main" xmlns:r="http://schemas.openxmlformats.org/officeDocument/2006/relationships" xmlns:p="http://schemas.openxmlformats.org/presentationml/2006/main">
  <p:tag name="MH" val="20150401114614"/>
  <p:tag name="MH_LIBRARY" val="CONTENTS"/>
  <p:tag name="MH_TYPE" val="OTHERS"/>
</p:tagLst>
</file>

<file path=ppt/tags/tag4.xml><?xml version="1.0" encoding="utf-8"?>
<p:tagLst xmlns:a="http://schemas.openxmlformats.org/drawingml/2006/main" xmlns:r="http://schemas.openxmlformats.org/officeDocument/2006/relationships" xmlns:p="http://schemas.openxmlformats.org/presentationml/2006/main">
  <p:tag name="KSO_WM_TEMPLATE_THUMBS_INDEX" val="1、4、5、9、12、14、19、21、26、29、31"/>
  <p:tag name="KSO_WM_TEMPLATE_CATEGORY" val="custom"/>
  <p:tag name="KSO_WM_TEMPLATE_INDEX" val="160335"/>
  <p:tag name="KSO_WM_TAG_VERSION" val="1.0"/>
  <p:tag name="KSO_WM_SLIDE_ID" val="custom160335_1"/>
  <p:tag name="KSO_WM_SLIDE_INDEX" val="1"/>
  <p:tag name="KSO_WM_SLIDE_ITEM_CNT" val="2"/>
  <p:tag name="KSO_WM_SLIDE_LAYOUT" val="a_b"/>
  <p:tag name="KSO_WM_SLIDE_LAYOUT_CNT" val="1_1"/>
  <p:tag name="KSO_WM_SLIDE_TYPE" val="title"/>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5"/>
  <p:tag name="KSO_WM_TAG_VERSION" val="1.0"/>
  <p:tag name="KSO_WM_SLIDE_ID" val="custom160335_2"/>
  <p:tag name="KSO_WM_SLIDE_INDEX" val="2"/>
  <p:tag name="KSO_WM_SLIDE_ITEM_CNT" val="1"/>
  <p:tag name="KSO_WM_SLIDE_LAYOUT" val="a_f"/>
  <p:tag name="KSO_WM_SLIDE_LAYOUT_CNT" val="1_1"/>
  <p:tag name="KSO_WM_SLIDE_TYPE" val="text"/>
  <p:tag name="KSO_WM_BEAUTIFY_FLAG" val="#wm#"/>
  <p:tag name="KSO_WM_SLIDE_POSITION" val="46*122"/>
  <p:tag name="KSO_WM_SLIDE_SIZE" val="868*368"/>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5_11*i*0"/>
  <p:tag name="KSO_WM_TEMPLATE_CATEGORY" val="custom"/>
  <p:tag name="KSO_WM_TEMPLATE_INDEX" val="160335"/>
  <p:tag name="KSO_WM_UNIT_INDEX" val="0"/>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5_11*i*5"/>
  <p:tag name="KSO_WM_TEMPLATE_CATEGORY" val="custom"/>
  <p:tag name="KSO_WM_TEMPLATE_INDEX" val="160335"/>
  <p:tag name="KSO_WM_UNIT_INDEX" val="5"/>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5_11*i*10"/>
  <p:tag name="KSO_WM_TEMPLATE_CATEGORY" val="custom"/>
  <p:tag name="KSO_WM_TEMPLATE_INDEX" val="160335"/>
  <p:tag name="KSO_WM_UNIT_INDEX" val="10"/>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5_11*i*15"/>
  <p:tag name="KSO_WM_TEMPLATE_CATEGORY" val="custom"/>
  <p:tag name="KSO_WM_TEMPLATE_INDEX" val="160335"/>
  <p:tag name="KSO_WM_UNIT_INDEX" val="1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i*1_4"/>
  <p:tag name="MH" val="20150401114614"/>
  <p:tag name="MH_LIBRARY" val="CONTENTS"/>
  <p:tag name="MH_TYPE" val="NUMBER"/>
  <p:tag name="MH_ORDER" val="2"/>
  <p:tag name="KSO_WM_UNIT_TYPE" val="l_i"/>
  <p:tag name="KSO_WM_UNIT_INDEX" val="1_4"/>
  <p:tag name="KSO_WM_UNIT_CLEAR" val="1"/>
  <p:tag name="KSO_WM_UNIT_LAYERLEVEL" val="1_1"/>
  <p:tag name="KSO_WM_DIAGRAM_GROUP_CODE" val="l1-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h_f*1_4_1"/>
  <p:tag name="MH" val="20150401114614"/>
  <p:tag name="MH_LIBRARY" val="CONTENTS"/>
  <p:tag name="MH_TYPE" val="ENTRY"/>
  <p:tag name="MH_ORDER" val="2"/>
  <p:tag name="KSO_WM_UNIT_TYPE" val="l_h_f"/>
  <p:tag name="KSO_WM_UNIT_INDEX" val="1_4_1"/>
  <p:tag name="KSO_WM_UNIT_CLEAR" val="1"/>
  <p:tag name="KSO_WM_UNIT_LAYERLEVEL" val="1_1_1"/>
  <p:tag name="KSO_WM_UNIT_VALUE" val="12"/>
  <p:tag name="KSO_WM_UNIT_HIGHLIGHT" val="0"/>
  <p:tag name="KSO_WM_UNIT_COMPATIBLE" val="0"/>
  <p:tag name="KSO_WM_UNIT_PRESET_TEXT_INDEX" val="3"/>
  <p:tag name="KSO_WM_UNIT_PRESET_TEXT_LEN" val="17"/>
  <p:tag name="KSO_WM_DIAGRAM_GROUP_CODE" val="l1-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i*1_3"/>
  <p:tag name="MH" val="20150401114614"/>
  <p:tag name="MH_LIBRARY" val="CONTENTS"/>
  <p:tag name="MH_TYPE" val="NUMBER"/>
  <p:tag name="MH_ORDER" val="1"/>
  <p:tag name="KSO_WM_UNIT_TYPE" val="l_i"/>
  <p:tag name="KSO_WM_UNIT_INDEX" val="1_3"/>
  <p:tag name="KSO_WM_UNIT_CLEAR" val="1"/>
  <p:tag name="KSO_WM_UNIT_LAYERLEVEL" val="1_1"/>
  <p:tag name="KSO_WM_DIAGRAM_GROUP_CODE" val="l1-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h_f*1_3_1"/>
  <p:tag name="MH" val="20150401114614"/>
  <p:tag name="MH_LIBRARY" val="CONTENTS"/>
  <p:tag name="MH_TYPE" val="ENTRY"/>
  <p:tag name="MH_ORDER" val="1"/>
  <p:tag name="KSO_WM_UNIT_TYPE" val="l_h_f"/>
  <p:tag name="KSO_WM_UNIT_INDEX" val="1_3_1"/>
  <p:tag name="KSO_WM_UNIT_CLEAR" val="1"/>
  <p:tag name="KSO_WM_UNIT_LAYERLEVEL" val="1_1_1"/>
  <p:tag name="KSO_WM_UNIT_VALUE" val="12"/>
  <p:tag name="KSO_WM_UNIT_HIGHLIGHT" val="0"/>
  <p:tag name="KSO_WM_UNIT_COMPATIBLE" val="0"/>
  <p:tag name="KSO_WM_UNIT_PRESET_TEXT_INDEX" val="3"/>
  <p:tag name="KSO_WM_UNIT_PRESET_TEXT_LEN" val="17"/>
  <p:tag name="KSO_WM_DIAGRAM_GROUP_CODE" val="l1-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i*1_2"/>
  <p:tag name="MH" val="20150401114614"/>
  <p:tag name="MH_LIBRARY" val="CONTENTS"/>
  <p:tag name="MH_TYPE" val="NUMBER"/>
  <p:tag name="MH_ORDER" val="2"/>
  <p:tag name="KSO_WM_UNIT_TYPE" val="l_i"/>
  <p:tag name="KSO_WM_UNIT_INDEX" val="1_2"/>
  <p:tag name="KSO_WM_UNIT_CLEAR" val="1"/>
  <p:tag name="KSO_WM_UNIT_LAYERLEVEL" val="1_1"/>
  <p:tag name="KSO_WM_DIAGRAM_GROUP_CODE" val="l1-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h_f*1_2_1"/>
  <p:tag name="MH" val="20150401114614"/>
  <p:tag name="MH_LIBRARY" val="CONTENTS"/>
  <p:tag name="MH_TYPE" val="ENTRY"/>
  <p:tag name="MH_ORDER" val="2"/>
  <p:tag name="KSO_WM_UNIT_TYPE" val="l_h_f"/>
  <p:tag name="KSO_WM_UNIT_INDEX" val="1_2_1"/>
  <p:tag name="KSO_WM_UNIT_CLEAR" val="1"/>
  <p:tag name="KSO_WM_UNIT_LAYERLEVEL" val="1_1_1"/>
  <p:tag name="KSO_WM_UNIT_VALUE" val="12"/>
  <p:tag name="KSO_WM_UNIT_HIGHLIGHT" val="0"/>
  <p:tag name="KSO_WM_UNIT_COMPATIBLE" val="0"/>
  <p:tag name="KSO_WM_UNIT_PRESET_TEXT_INDEX" val="3"/>
  <p:tag name="KSO_WM_UNIT_PRESET_TEXT_LEN" val="17"/>
  <p:tag name="KSO_WM_DIAGRAM_GROUP_CODE" val="l1-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i*1_1"/>
  <p:tag name="MH" val="20150401114614"/>
  <p:tag name="MH_LIBRARY" val="CONTENTS"/>
  <p:tag name="MH_TYPE" val="NUMBER"/>
  <p:tag name="MH_ORDER" val="1"/>
  <p:tag name="KSO_WM_UNIT_TYPE" val="l_i"/>
  <p:tag name="KSO_WM_UNIT_INDEX" val="1_1"/>
  <p:tag name="KSO_WM_UNIT_CLEAR" val="1"/>
  <p:tag name="KSO_WM_UNIT_LAYERLEVEL" val="1_1"/>
  <p:tag name="KSO_WM_DIAGRAM_GROUP_CODE" val="l1-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1*l_h_f*1_1_1"/>
  <p:tag name="MH" val="20150401114614"/>
  <p:tag name="MH_LIBRARY" val="CONTENTS"/>
  <p:tag name="MH_TYPE" val="ENTRY"/>
  <p:tag name="MH_ORDER" val="1"/>
  <p:tag name="KSO_WM_UNIT_TYPE" val="l_h_f"/>
  <p:tag name="KSO_WM_UNIT_INDEX" val="1_1_1"/>
  <p:tag name="KSO_WM_UNIT_CLEAR" val="1"/>
  <p:tag name="KSO_WM_UNIT_LAYERLEVEL" val="1_1_1"/>
  <p:tag name="KSO_WM_UNIT_VALUE" val="12"/>
  <p:tag name="KSO_WM_UNIT_HIGHLIGHT" val="0"/>
  <p:tag name="KSO_WM_UNIT_COMPATIBLE" val="0"/>
  <p:tag name="KSO_WM_UNIT_PRESET_TEXT_INDEX" val="3"/>
  <p:tag name="KSO_WM_UNIT_PRESET_TEXT_LEN" val="17"/>
  <p:tag name="KSO_WM_DIAGRAM_GROUP_CODE" val="l1-1"/>
</p:tagLst>
</file>

<file path=ppt/tags/tag18.xml><?xml version="1.0" encoding="utf-8"?>
<p:tagLst xmlns:a="http://schemas.openxmlformats.org/drawingml/2006/main" xmlns:r="http://schemas.openxmlformats.org/officeDocument/2006/relationships" xmlns:p="http://schemas.openxmlformats.org/presentationml/2006/main">
  <p:tag name="MH" val="20150401114614"/>
  <p:tag name="MH_LIBRARY" val="CONTENTS"/>
  <p:tag name="MH_AUTOCOLOR" val="TRUE"/>
  <p:tag name="MH_TYPE" val="SECTION"/>
  <p:tag name="KSO_WM_TEMPLATE_CATEGORY" val="custom"/>
  <p:tag name="KSO_WM_TEMPLATE_INDEX" val="160335"/>
  <p:tag name="KSO_WM_TAG_VERSION" val="1.0"/>
  <p:tag name="KSO_WM_SLIDE_ID" val="custom160335_12"/>
  <p:tag name="KSO_WM_SLIDE_INDEX" val="12"/>
  <p:tag name="KSO_WM_SLIDE_ITEM_CNT" val="1"/>
  <p:tag name="KSO_WM_SLIDE_LAYOUT" val="a_e"/>
  <p:tag name="KSO_WM_SLIDE_LAYOUT_CNT" val="1_1"/>
  <p:tag name="KSO_WM_SLIDE_TYPE" val="sectionTitle"/>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2*a*1"/>
  <p:tag name="KSO_WM_UNIT_TYPE" val="a"/>
  <p:tag name="KSO_WM_UNIT_INDEX" val="1"/>
  <p:tag name="KSO_WM_UNIT_CLEAR" val="1"/>
  <p:tag name="KSO_WM_UNIT_LAYERLEVEL" val="1"/>
  <p:tag name="KSO_WM_UNIT_VALUE" val="24"/>
  <p:tag name="KSO_WM_UNIT_ISCONTENTSTITLE" val="0"/>
  <p:tag name="KSO_WM_UNIT_HIGHLIGHT" val="0"/>
  <p:tag name="KSO_WM_UNIT_COMPATIBLE" val="0"/>
  <p:tag name="KSO_WM_UNIT_PRESET_TEXT_INDEX" val="3"/>
  <p:tag name="KSO_WM_UNIT_PRESET_TEXT_LEN" val="17"/>
</p:tagLst>
</file>

<file path=ppt/tags/tag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5"/>
  <p:tag name="KSO_WM_TAG_VERSION" val="1.0"/>
  <p:tag name="KSO_WM_SLIDE_ID" val="custom160335_4"/>
  <p:tag name="KSO_WM_SLIDE_INDEX" val="4"/>
  <p:tag name="KSO_WM_SLIDE_ITEM_CNT" val="3"/>
  <p:tag name="KSO_WM_SLIDE_LAYOUT" val="a_f_d"/>
  <p:tag name="KSO_WM_SLIDE_LAYOUT_CNT" val="1_1_1"/>
  <p:tag name="KSO_WM_SLIDE_TYPE" val="text"/>
  <p:tag name="KSO_WM_BEAUTIFY_FLAG" val="#wm#"/>
  <p:tag name="KSO_WM_SLIDE_POSITION" val="63*64"/>
  <p:tag name="KSO_WM_SLIDE_SIZE" val="840*426"/>
</p:tagLst>
</file>

<file path=ppt/tags/tag21.xml><?xml version="1.0" encoding="utf-8"?>
<p:tagLst xmlns:a="http://schemas.openxmlformats.org/drawingml/2006/main" xmlns:r="http://schemas.openxmlformats.org/officeDocument/2006/relationships" xmlns:p="http://schemas.openxmlformats.org/presentationml/2006/main">
  <p:tag name="MH" val="20150401114614"/>
  <p:tag name="MH_LIBRARY" val="CONTENTS"/>
  <p:tag name="MH_AUTOCOLOR" val="TRUE"/>
  <p:tag name="MH_TYPE" val="SECTION"/>
  <p:tag name="KSO_WM_TEMPLATE_CATEGORY" val="custom"/>
  <p:tag name="KSO_WM_TEMPLATE_INDEX" val="160335"/>
  <p:tag name="KSO_WM_TAG_VERSION" val="1.0"/>
  <p:tag name="KSO_WM_SLIDE_ID" val="custom160335_12"/>
  <p:tag name="KSO_WM_SLIDE_INDEX" val="12"/>
  <p:tag name="KSO_WM_SLIDE_ITEM_CNT" val="1"/>
  <p:tag name="KSO_WM_SLIDE_LAYOUT" val="a_e"/>
  <p:tag name="KSO_WM_SLIDE_LAYOUT_CNT" val="1_1"/>
  <p:tag name="KSO_WM_SLIDE_TYPE" val="sectionTitle"/>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2*a*1"/>
  <p:tag name="KSO_WM_UNIT_TYPE" val="a"/>
  <p:tag name="KSO_WM_UNIT_INDEX" val="1"/>
  <p:tag name="KSO_WM_UNIT_CLEAR" val="1"/>
  <p:tag name="KSO_WM_UNIT_LAYERLEVEL" val="1"/>
  <p:tag name="KSO_WM_UNIT_VALUE" val="24"/>
  <p:tag name="KSO_WM_UNIT_ISCONTENTSTITLE" val="0"/>
  <p:tag name="KSO_WM_UNIT_HIGHLIGHT" val="0"/>
  <p:tag name="KSO_WM_UNIT_COMPATIBLE" val="0"/>
  <p:tag name="KSO_WM_UNIT_PRESET_TEXT_INDEX" val="3"/>
  <p:tag name="KSO_WM_UNIT_PRESET_TEXT_LEN" val="17"/>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5"/>
  <p:tag name="KSO_WM_TAG_VERSION" val="1.0"/>
  <p:tag name="KSO_WM_SLIDE_ID" val="custom160335_4"/>
  <p:tag name="KSO_WM_SLIDE_INDEX" val="4"/>
  <p:tag name="KSO_WM_SLIDE_ITEM_CNT" val="3"/>
  <p:tag name="KSO_WM_SLIDE_LAYOUT" val="a_f_d"/>
  <p:tag name="KSO_WM_SLIDE_LAYOUT_CNT" val="1_1_1"/>
  <p:tag name="KSO_WM_SLIDE_TYPE" val="text"/>
  <p:tag name="KSO_WM_BEAUTIFY_FLAG" val="#wm#"/>
  <p:tag name="KSO_WM_SLIDE_POSITION" val="63*64"/>
  <p:tag name="KSO_WM_SLIDE_SIZE" val="840*426"/>
</p:tagLst>
</file>

<file path=ppt/tags/tag24.xml><?xml version="1.0" encoding="utf-8"?>
<p:tagLst xmlns:a="http://schemas.openxmlformats.org/drawingml/2006/main" xmlns:r="http://schemas.openxmlformats.org/officeDocument/2006/relationships" xmlns:p="http://schemas.openxmlformats.org/presentationml/2006/main">
  <p:tag name="MH" val="20150401114614"/>
  <p:tag name="MH_LIBRARY" val="CONTENTS"/>
  <p:tag name="MH_AUTOCOLOR" val="TRUE"/>
  <p:tag name="MH_TYPE" val="SECTION"/>
  <p:tag name="KSO_WM_TEMPLATE_CATEGORY" val="custom"/>
  <p:tag name="KSO_WM_TEMPLATE_INDEX" val="160335"/>
  <p:tag name="KSO_WM_TAG_VERSION" val="1.0"/>
  <p:tag name="KSO_WM_SLIDE_ID" val="custom160335_12"/>
  <p:tag name="KSO_WM_SLIDE_INDEX" val="12"/>
  <p:tag name="KSO_WM_SLIDE_ITEM_CNT" val="1"/>
  <p:tag name="KSO_WM_SLIDE_LAYOUT" val="a_e"/>
  <p:tag name="KSO_WM_SLIDE_LAYOUT_CNT" val="1_1"/>
  <p:tag name="KSO_WM_SLIDE_TYPE" val="sectionTitle"/>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2*a*1"/>
  <p:tag name="KSO_WM_UNIT_TYPE" val="a"/>
  <p:tag name="KSO_WM_UNIT_INDEX" val="1"/>
  <p:tag name="KSO_WM_UNIT_CLEAR" val="1"/>
  <p:tag name="KSO_WM_UNIT_LAYERLEVEL" val="1"/>
  <p:tag name="KSO_WM_UNIT_VALUE" val="24"/>
  <p:tag name="KSO_WM_UNIT_ISCONTENTSTITLE" val="0"/>
  <p:tag name="KSO_WM_UNIT_HIGHLIGHT" val="0"/>
  <p:tag name="KSO_WM_UNIT_COMPATIBLE" val="0"/>
  <p:tag name="KSO_WM_UNIT_PRESET_TEXT_INDEX" val="3"/>
  <p:tag name="KSO_WM_UNIT_PRESET_TEXT_LEN" val="17"/>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5"/>
  <p:tag name="KSO_WM_TAG_VERSION" val="1.0"/>
  <p:tag name="KSO_WM_SLIDE_ID" val="custom160335_4"/>
  <p:tag name="KSO_WM_SLIDE_INDEX" val="4"/>
  <p:tag name="KSO_WM_SLIDE_ITEM_CNT" val="3"/>
  <p:tag name="KSO_WM_SLIDE_LAYOUT" val="a_f_d"/>
  <p:tag name="KSO_WM_SLIDE_LAYOUT_CNT" val="1_1_1"/>
  <p:tag name="KSO_WM_SLIDE_TYPE" val="text"/>
  <p:tag name="KSO_WM_BEAUTIFY_FLAG" val="#wm#"/>
  <p:tag name="KSO_WM_SLIDE_POSITION" val="63*64"/>
  <p:tag name="KSO_WM_SLIDE_SIZE" val="840*426"/>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5"/>
  <p:tag name="KSO_WM_TAG_VERSION" val="1.0"/>
  <p:tag name="KSO_WM_SLIDE_ID" val="custom160335_4"/>
  <p:tag name="KSO_WM_SLIDE_INDEX" val="4"/>
  <p:tag name="KSO_WM_SLIDE_ITEM_CNT" val="3"/>
  <p:tag name="KSO_WM_SLIDE_LAYOUT" val="a_f_d"/>
  <p:tag name="KSO_WM_SLIDE_LAYOUT_CNT" val="1_1_1"/>
  <p:tag name="KSO_WM_SLIDE_TYPE" val="text"/>
  <p:tag name="KSO_WM_BEAUTIFY_FLAG" val="#wm#"/>
  <p:tag name="KSO_WM_SLIDE_POSITION" val="63*64"/>
  <p:tag name="KSO_WM_SLIDE_SIZE" val="840*426"/>
</p:tagLst>
</file>

<file path=ppt/tags/tag28.xml><?xml version="1.0" encoding="utf-8"?>
<p:tagLst xmlns:a="http://schemas.openxmlformats.org/drawingml/2006/main" xmlns:r="http://schemas.openxmlformats.org/officeDocument/2006/relationships" xmlns:p="http://schemas.openxmlformats.org/presentationml/2006/main">
  <p:tag name="MH" val="20150401114614"/>
  <p:tag name="MH_LIBRARY" val="CONTENTS"/>
  <p:tag name="MH_AUTOCOLOR" val="TRUE"/>
  <p:tag name="MH_TYPE" val="SECTION"/>
  <p:tag name="KSO_WM_TEMPLATE_CATEGORY" val="custom"/>
  <p:tag name="KSO_WM_TEMPLATE_INDEX" val="160335"/>
  <p:tag name="KSO_WM_TAG_VERSION" val="1.0"/>
  <p:tag name="KSO_WM_SLIDE_ID" val="custom160335_12"/>
  <p:tag name="KSO_WM_SLIDE_INDEX" val="12"/>
  <p:tag name="KSO_WM_SLIDE_ITEM_CNT" val="1"/>
  <p:tag name="KSO_WM_SLIDE_LAYOUT" val="a_e"/>
  <p:tag name="KSO_WM_SLIDE_LAYOUT_CNT" val="1_1"/>
  <p:tag name="KSO_WM_SLIDE_TYPE" val="sectionTitle"/>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12*a*1"/>
  <p:tag name="KSO_WM_UNIT_TYPE" val="a"/>
  <p:tag name="KSO_WM_UNIT_INDEX" val="1"/>
  <p:tag name="KSO_WM_UNIT_CLEAR" val="1"/>
  <p:tag name="KSO_WM_UNIT_LAYERLEVEL" val="1"/>
  <p:tag name="KSO_WM_UNIT_VALUE" val="24"/>
  <p:tag name="KSO_WM_UNIT_ISCONTENTSTITLE" val="0"/>
  <p:tag name="KSO_WM_UNIT_HIGHLIGHT" val="0"/>
  <p:tag name="KSO_WM_UNIT_COMPATIBLE" val="0"/>
  <p:tag name="KSO_WM_UNIT_PRESET_TEXT_INDEX" val="3"/>
  <p:tag name="KSO_WM_UNIT_PRESET_TEXT_LEN" val="17"/>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5"/>
  <p:tag name="KSO_WM_TAG_VERSION" val="1.0"/>
  <p:tag name="KSO_WM_SLIDE_ID" val="custom160335_4"/>
  <p:tag name="KSO_WM_SLIDE_INDEX" val="4"/>
  <p:tag name="KSO_WM_SLIDE_ITEM_CNT" val="3"/>
  <p:tag name="KSO_WM_SLIDE_LAYOUT" val="a_f_d"/>
  <p:tag name="KSO_WM_SLIDE_LAYOUT_CNT" val="1_1_1"/>
  <p:tag name="KSO_WM_SLIDE_TYPE" val="text"/>
  <p:tag name="KSO_WM_BEAUTIFY_FLAG" val="#wm#"/>
  <p:tag name="KSO_WM_SLIDE_POSITION" val="63*64"/>
  <p:tag name="KSO_WM_SLIDE_SIZE" val="840*426"/>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5"/>
  <p:tag name="KSO_WM_TAG_VERSION" val="1.0"/>
  <p:tag name="KSO_WM_SLIDE_ID" val="custom160335_31"/>
  <p:tag name="KSO_WM_SLIDE_INDEX" val="31"/>
  <p:tag name="KSO_WM_SLIDE_ITEM_CNT" val="1"/>
  <p:tag name="KSO_WM_SLIDE_LAYOUT" val="a"/>
  <p:tag name="KSO_WM_SLIDE_LAYOUT_CNT" val="1"/>
  <p:tag name="KSO_WM_SLIDE_TYPE" val="endPage"/>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5"/>
  <p:tag name="KSO_WM_UNIT_ID" val="custom160335_31*a*1"/>
  <p:tag name="KSO_WM_UNIT_TYPE" val="a"/>
  <p:tag name="KSO_WM_UNIT_INDEX" val="1"/>
  <p:tag name="KSO_WM_UNIT_CLEAR" val="1"/>
  <p:tag name="KSO_WM_UNIT_LAYERLEVEL" val="1"/>
  <p:tag name="KSO_WM_UNIT_VALUE" val="8"/>
  <p:tag name="KSO_WM_UNIT_ISCONTENTSTITLE" val="0"/>
  <p:tag name="KSO_WM_UNIT_HIGHLIGHT" val="0"/>
  <p:tag name="KSO_WM_UNIT_COMPATIBLE" val="0"/>
  <p:tag name="KSO_WM_UNIT_PRESET_TEXT" val="THANK&#10;YOU"/>
</p:tagLst>
</file>

<file path=ppt/theme/theme1.xml><?xml version="1.0" encoding="utf-8"?>
<a:theme xmlns:a="http://schemas.openxmlformats.org/drawingml/2006/main" name="A000120140530A89PPBG">
  <a:themeElements>
    <a:clrScheme name="自定义 1">
      <a:dk1>
        <a:srgbClr val="3D3F41"/>
      </a:dk1>
      <a:lt1>
        <a:srgbClr val="FFFFFF"/>
      </a:lt1>
      <a:dk2>
        <a:srgbClr val="454749"/>
      </a:dk2>
      <a:lt2>
        <a:srgbClr val="FFFFFF"/>
      </a:lt2>
      <a:accent1>
        <a:srgbClr val="358CC1"/>
      </a:accent1>
      <a:accent2>
        <a:srgbClr val="5FACC0"/>
      </a:accent2>
      <a:accent3>
        <a:srgbClr val="A4C37B"/>
      </a:accent3>
      <a:accent4>
        <a:srgbClr val="C6BBA6"/>
      </a:accent4>
      <a:accent5>
        <a:srgbClr val="C5D8F2"/>
      </a:accent5>
      <a:accent6>
        <a:srgbClr val="FFC000"/>
      </a:accent6>
      <a:hlink>
        <a:srgbClr val="00B0F0"/>
      </a:hlink>
      <a:folHlink>
        <a:srgbClr val="AFB2B4"/>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A000120140530A89KPBG</Template>
  <TotalTime>7324</TotalTime>
  <Words>4017</Words>
  <Application>Microsoft Office PowerPoint</Application>
  <PresentationFormat>宽屏</PresentationFormat>
  <Paragraphs>216</Paragraphs>
  <Slides>16</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黑体</vt:lpstr>
      <vt:lpstr>宋体</vt:lpstr>
      <vt:lpstr>微软雅黑</vt:lpstr>
      <vt:lpstr>幼圆</vt:lpstr>
      <vt:lpstr>Arial</vt:lpstr>
      <vt:lpstr>Calibri</vt:lpstr>
      <vt:lpstr>Times New Roman</vt:lpstr>
      <vt:lpstr>Wingdings 2</vt:lpstr>
      <vt:lpstr>A000120140530A89PPBG</vt:lpstr>
      <vt:lpstr>大语言模型监督微调数据优化算法研究</vt:lpstr>
      <vt:lpstr>目录</vt:lpstr>
      <vt:lpstr>研 究 背 景</vt:lpstr>
      <vt:lpstr>PowerPoint 演示文稿</vt:lpstr>
      <vt:lpstr>PowerPoint 演示文稿</vt:lpstr>
      <vt:lpstr>研 究 现 状</vt:lpstr>
      <vt:lpstr>PowerPoint 演示文稿</vt:lpstr>
      <vt:lpstr>相 关 工 作</vt:lpstr>
      <vt:lpstr>PowerPoint 演示文稿</vt:lpstr>
      <vt:lpstr>PowerPoint 演示文稿</vt:lpstr>
      <vt:lpstr>PowerPoint 演示文稿</vt:lpstr>
      <vt:lpstr>PowerPoint 演示文稿</vt:lpstr>
      <vt:lpstr>研 究 方 法</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杨春夏</dc:creator>
  <cp:lastModifiedBy>cindy potter</cp:lastModifiedBy>
  <cp:revision>507</cp:revision>
  <cp:lastPrinted>2020-10-03T14:09:59Z</cp:lastPrinted>
  <dcterms:created xsi:type="dcterms:W3CDTF">2015-04-01T03:37:00Z</dcterms:created>
  <dcterms:modified xsi:type="dcterms:W3CDTF">2025-07-30T08:12:50Z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2052-10.1.0.6393</vt:lpwstr>
  </property>
  <property fmtid="{D5CDD505-2E9C-101B-9397-08002B2CF9AE}" pid="3" name="name">
    <vt:lpwstr>海浪简约风.pptx</vt:lpwstr>
  </property>
  <property fmtid="{D5CDD505-2E9C-101B-9397-08002B2CF9AE}" pid="4" name="fileid">
    <vt:lpwstr>861035</vt:lpwstr>
  </property>
  <property fmtid="{D5CDD505-2E9C-101B-9397-08002B2CF9AE}" pid="5" name="search_tags">
    <vt:lpwstr>PPT模板</vt:lpwstr>
  </property>
</Properties>
</file>